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D3743C-D422-4418-A80A-94564612E97B}" type="datetimeFigureOut">
              <a:rPr lang="ru-RU" smtClean="0"/>
              <a:t>30.12.2022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AB418-B780-4503-95A6-E7D180C2A6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240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87D8E0-E1DC-FF5D-B68F-389EF08BB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A428F8-8EE7-FBF7-280A-6C4854A2A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C18B60-F062-FD5C-5BE7-5CA3A0191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EEB0-8A97-4AE1-8E56-5B10C0B2CB43}" type="datetime1">
              <a:rPr lang="ru-RU" smtClean="0"/>
              <a:t>30.12.2022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9420BA-E9E7-507B-4EC5-042E49E0B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398802-03F6-0728-9B8B-21FD367A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101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83988C-F891-675C-4D4C-B1BC09CD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1E80DB-A63D-243C-D223-F443DDBEC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C13037-69AD-DD58-2C70-2038EC1D8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C3F6-FC7A-46A5-A1CE-B8F8D6D6926A}" type="datetime1">
              <a:rPr lang="ru-RU" smtClean="0"/>
              <a:t>30.12.2022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AA6DD-E9AD-DA6B-8A6C-B77ECAFC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DC5A55-56E3-050A-3964-B6283717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776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887FD-1A02-BAC9-A9C3-CE73CC642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9B97EB-60CA-E3B1-C08C-5F57EE6A6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E8E163-054E-434D-66F0-AD6C55E88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E814-8173-4AD2-AB10-6761EE52D8D2}" type="datetime1">
              <a:rPr lang="ru-RU" smtClean="0"/>
              <a:t>30.12.2022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063EA2-A608-CA51-17F2-FA8A34C9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506B3F-60B4-2B0C-EEF9-5C625616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868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33873-CC70-3624-E4FD-BD7EDE41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9C3FE1-DA02-8C33-F311-21501660E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7964FB-2776-4A9B-CCBE-33BD06C72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634DE7-5CAD-811C-A711-214194F4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D0E8-CEB8-4928-BA3B-265B88DD2820}" type="datetime1">
              <a:rPr lang="ru-RU" smtClean="0"/>
              <a:t>30.12.2022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F6D905-2CEF-A14C-F58A-849CC1232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84E09B-B68F-8481-0A6F-F69ED6D9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70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A7F44-60D0-06D5-BEE7-D095B403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4B4879-D350-C6C4-BBA6-BF139C435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E65BF9-BA20-0DF4-F21C-E2B9372BB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BFC8176-CD29-B638-634F-E7386C99D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3138EE-4747-50E0-7CC8-357E94432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5A824C8-9BC0-8530-2035-3D19ED8B0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0B60E-BBA2-46A1-B193-2FF4CAC5EEDF}" type="datetime1">
              <a:rPr lang="ru-RU" smtClean="0"/>
              <a:t>30.12.2022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B43430-615F-FDBF-A396-E6C2B0CAE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A3145D5-5AB2-3200-B7C2-19F5CE7A5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254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0CA0B-19E5-25EE-6090-EB95C03E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5F1DAC6-09B5-85D1-3527-79B8C72A1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F227D-DD1B-4DAE-BAE5-2EBFEEC6A0C0}" type="datetime1">
              <a:rPr lang="ru-RU" smtClean="0"/>
              <a:t>30.12.2022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A8CBD6E-2FE6-AC73-EC12-09E65AFA2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1C094F6-C561-E670-43D3-254700A6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21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05934D-3419-5DD4-39B9-345A6D40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7FE9-13F6-4CC6-B3A5-972BD5A7F6E2}" type="datetime1">
              <a:rPr lang="ru-RU" smtClean="0"/>
              <a:t>30.12.2022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C1BD122-2EB8-F29F-483D-6E2DE0D85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0C82E9-CE18-BD3F-1C89-BA9DA066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62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87B9E-0F8C-29B0-B493-27738E6D0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00EBC9-3018-8DD5-9DC5-C74FDA7E7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17836B-6E8B-0C67-1376-2C2538F26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808F77-0C1D-8677-9B79-6DA605F10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BE9FD-C0A9-4482-90DC-036774BC916E}" type="datetime1">
              <a:rPr lang="ru-RU" smtClean="0"/>
              <a:t>30.12.2022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9DB4AF-7BBF-60E8-CD96-575113AE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5A8B6C-8367-1F7B-FA1A-76EA6364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198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3A009-9A57-8319-9E31-F326D0633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A7F6D63-EFD2-1155-D018-66548DD5D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60D790-5D9D-411B-50E1-2ED34E637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7B3539-90F5-C8CE-2E8B-D927FA5B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6380-6E68-4280-89D2-E7D837CC58A8}" type="datetime1">
              <a:rPr lang="ru-RU" smtClean="0"/>
              <a:t>30.12.2022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AB3A11-50AD-C640-BB56-F3AF5AA4C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C2D84A-B270-8074-EDBE-3211BBCBC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675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4382EC-A974-73D6-6655-ECE966F95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8D0499D-3786-F4C2-4216-87A3B73B9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E40F8C-0073-9FDA-57D4-1691C4490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74A16-3916-4FD5-9658-6F45EEF3F82C}" type="datetime1">
              <a:rPr lang="ru-RU" smtClean="0"/>
              <a:t>30.12.2022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B798FF-8E44-91E5-F8B8-9B3146493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38CE4C-A5FF-ECE4-3EAA-1E915B62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675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9B46422-B8B1-4CC1-049D-67EE161733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EE2BF1-B918-867D-1FAA-3ED04BC66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A3A06A-327D-CDD3-F660-32EB480E1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B6FA-6982-4BEB-84E3-667BB0E4E0A5}" type="datetime1">
              <a:rPr lang="ru-RU" smtClean="0"/>
              <a:t>30.12.2022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D25BEB-F0EA-F582-2BAA-EA8209531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64333E-AFC5-D23A-704C-A900590E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30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44E34-A7DE-14D2-4371-2AE12B213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D7F8C7-951F-E0A9-8363-DB386B55B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559016-AC68-DEFF-F2E7-80A78D93F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C8A9-4DB8-446E-AF09-4C14F79120CF}" type="datetime1">
              <a:rPr lang="ru-RU" smtClean="0"/>
              <a:t>30.12.2022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981650-D144-AE65-362D-CEC8F592D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03243F-6A40-0AC5-DDBC-A54472F06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EB5E7-8EBC-4526-8AA0-94BB16B0D5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74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D6C9E6-2D85-00AF-5491-76B16A160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691" y="1505821"/>
            <a:ext cx="9144000" cy="2387600"/>
          </a:xfrm>
        </p:spPr>
        <p:txBody>
          <a:bodyPr/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Курсовая работа</a:t>
            </a:r>
            <a:b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дисциплине «Информационные технологии в физике»</a:t>
            </a:r>
            <a:b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Моделирование броуновского движения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B1360F-EB9F-054C-59A4-3A318A680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374" y="4625658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ИВТ 1 курса 2 группы 2 подгруппы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Гумирова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Алена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Альбертована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D06475-6E4B-A13E-48D9-9485EAE1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1</a:t>
            </a:fld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1C538A-DBC2-BE87-785B-C66933CD60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8091" y="6216967"/>
            <a:ext cx="2743200" cy="365125"/>
          </a:xfrm>
        </p:spPr>
        <p:txBody>
          <a:bodyPr/>
          <a:lstStyle/>
          <a:p>
            <a:pPr algn="ctr"/>
            <a:r>
              <a:rPr 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 г.</a:t>
            </a:r>
          </a:p>
        </p:txBody>
      </p:sp>
    </p:spTree>
    <p:extLst>
      <p:ext uri="{BB962C8B-B14F-4D97-AF65-F5344CB8AC3E}">
        <p14:creationId xmlns:p14="http://schemas.microsoft.com/office/powerpoint/2010/main" val="128774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40D993-0BA2-B9C5-54E9-43912F88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8444F9-7964-7C01-4E47-EE4A87180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105"/>
            <a:ext cx="10515600" cy="4351338"/>
          </a:xfrm>
        </p:spPr>
        <p:txBody>
          <a:bodyPr>
            <a:normAutofit/>
          </a:bodyPr>
          <a:lstStyle/>
          <a:p>
            <a:pPr marL="0" indent="4572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Имеем некоторое </a:t>
            </a:r>
            <a:r>
              <a:rPr lang="ru-RU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движение молекул жидкости или газа, в котором находятся частицы твердого тела, в плоскости. Смоделировать броуновское движение при помощи программного продукта.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D756BE-7F15-15C2-3CDA-FD0F2AEC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46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74ED1-388D-41D3-1738-EF2F3016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AE6979-47F2-CE51-1333-1D3A4D7AF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351338"/>
          </a:xfrm>
        </p:spPr>
        <p:txBody>
          <a:bodyPr>
            <a:normAutofit/>
          </a:bodyPr>
          <a:lstStyle/>
          <a:p>
            <a:pPr marL="0" indent="4500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Цель: 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оздать программное средство, которое позволит осуществить компьютерное моделирование броуновского движения.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достижения цели необходимо решить следующие задачи : 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Провести анализ научной литературы, интернет-ресурсов по теме работы и из выявленной информации создать математическую модель для проведения эксперимента.</a:t>
            </a:r>
          </a:p>
          <a:p>
            <a:pPr marL="0" lvl="0" indent="-4500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Разработать прикладной программный продукт и представить его описания в соответствие с действующим ГОСТом. </a:t>
            </a:r>
          </a:p>
          <a:p>
            <a:pPr marL="0" lvl="0" indent="-4500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Провести вычислительный эксперимент.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585E29-2905-9CFD-998E-BAE98405A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522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70FDD7-1562-594B-310D-86A0010E9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выполнения курсовой работы. Задача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D1EC353-B3C1-9644-E113-736F41DC4F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0825"/>
                <a:ext cx="10515600" cy="4351338"/>
              </a:xfrm>
            </p:spPr>
            <p:txBody>
              <a:bodyPr anchor="ctr">
                <a:normAutofit fontScale="25000" lnSpcReduction="20000"/>
              </a:bodyPr>
              <a:lstStyle/>
              <a:p>
                <a:pPr marL="0" indent="457200" algn="just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ru-RU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Математическая модель</a:t>
                </a:r>
              </a:p>
              <a:p>
                <a:pPr marL="0" indent="457200" algn="just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ru-RU" sz="8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Случайное направление вектора перемещения частицы можно найти по формуле (</a:t>
                </a:r>
                <a:r>
                  <a:rPr lang="en-US" sz="8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ru-RU" sz="8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.1)</a:t>
                </a:r>
              </a:p>
              <a:p>
                <a:pPr marL="0" indent="457200" algn="just"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8000" b="0" i="1" dirty="0" smtClean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ru-RU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  <m:r>
                            <a:rPr lang="ru-RU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=2</m:t>
                          </m:r>
                          <m:r>
                            <a:rPr lang="ru-RU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ru-RU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US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, #</m:t>
                          </m:r>
                          <m:d>
                            <m:dPr>
                              <m:ctrlPr>
                                <a:rPr lang="ru-RU" sz="8000" b="0" i="1" dirty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0" i="1" dirty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1.1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US" sz="8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457200" algn="just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ru-RU" sz="8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8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8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8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случайное число.</a:t>
                </a:r>
                <a:endParaRPr lang="en-US" sz="80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457200" algn="just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ru-RU" sz="8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Абсцисса конца вектора представлена в формуле (1.2)</a:t>
                </a:r>
              </a:p>
              <a:p>
                <a:pPr marL="0" indent="457200" algn="just"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ru-RU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ru-RU" sz="8000" i="1" dirty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8000" i="0" dirty="0" err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8000" i="1" dirty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8000" i="1" dirty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</m:d>
                            </m:e>
                          </m:func>
                          <m:r>
                            <a:rPr lang="ru-RU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ru-RU" sz="8000" b="0" i="1" dirty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8000" i="1" dirty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1.2</m:t>
                              </m:r>
                            </m:e>
                          </m:d>
                        </m:e>
                      </m:eqArr>
                      <m:r>
                        <a:rPr lang="ru-RU" sz="8000" i="1" dirty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8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457200" algn="just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ru-RU" sz="8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Ордината конца вектора представлена в формуле (1.3)</a:t>
                </a:r>
              </a:p>
              <a:p>
                <a:pPr marL="0" indent="457200" algn="just"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ru-RU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ru-RU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ru-RU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ru-RU" sz="8000" i="1" dirty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8000" i="0" dirty="0" err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8000" i="1" dirty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8000" i="1" dirty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</m:d>
                            </m:e>
                          </m:func>
                          <m:r>
                            <a:rPr lang="ru-RU" sz="80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#</m:t>
                          </m:r>
                          <m:d>
                            <m:dPr>
                              <m:ctrlPr>
                                <a:rPr lang="ru-RU" sz="8000" i="1" dirty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0" i="1" dirty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1.3</m:t>
                              </m:r>
                            </m:e>
                          </m:d>
                        </m:e>
                      </m:eqArr>
                      <m:r>
                        <a:rPr lang="en-US" sz="8000" i="1" dirty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ru-RU" sz="8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D1EC353-B3C1-9644-E113-736F41DC4F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0825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EC159D-208D-E0DF-5BFA-BC73630D0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076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60887-3B33-839F-31E0-8E35FF335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выполнения курсовой работы. Задача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B02D2A-355C-2E39-4DE1-99D30D720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994"/>
            <a:ext cx="10515600" cy="4593969"/>
          </a:xfrm>
        </p:spPr>
        <p:txBody>
          <a:bodyPr>
            <a:normAutofit/>
          </a:bodyPr>
          <a:lstStyle/>
          <a:p>
            <a:pPr marL="0" indent="4572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продукт. </a:t>
            </a:r>
          </a:p>
          <a:p>
            <a:pPr marL="0" indent="4572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создания модели движения броуновской частицы воспользуемся электронной таблицей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  <a:r>
              <a:rPr lang="ru-RU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2019. </a:t>
            </a:r>
            <a:r>
              <a:rPr lang="ru-RU" sz="2000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рисунке 1 представлена неполная таблица, которую будем использовать.</a:t>
            </a:r>
            <a:endParaRPr lang="ru-RU" sz="2000" kern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2F0BF2-4696-8EF2-F888-15B7942D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5</a:t>
            </a:fld>
            <a:endParaRPr lang="ru-RU"/>
          </a:p>
        </p:txBody>
      </p:sp>
      <p:pic>
        <p:nvPicPr>
          <p:cNvPr id="8" name="Рисунок 7" descr="Изображение выглядит как текст, кроссворд&#10;&#10;Автоматически созданное описание">
            <a:extLst>
              <a:ext uri="{FF2B5EF4-FFF2-40B4-BE49-F238E27FC236}">
                <a16:creationId xmlns:a16="http://schemas.microsoft.com/office/drawing/2014/main" id="{86068370-DFA3-01DA-C86E-FDF9AE15C8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86"/>
          <a:stretch/>
        </p:blipFill>
        <p:spPr>
          <a:xfrm>
            <a:off x="4988560" y="3537106"/>
            <a:ext cx="2842414" cy="2538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F77611-4E3A-D35A-937A-884F8DDFFD55}"/>
              </a:ext>
            </a:extLst>
          </p:cNvPr>
          <p:cNvSpPr txBox="1"/>
          <p:nvPr/>
        </p:nvSpPr>
        <p:spPr>
          <a:xfrm>
            <a:off x="5909187" y="49357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EDC245-FD40-24D8-E3C2-154F0101D440}"/>
              </a:ext>
            </a:extLst>
          </p:cNvPr>
          <p:cNvSpPr txBox="1"/>
          <p:nvPr/>
        </p:nvSpPr>
        <p:spPr>
          <a:xfrm>
            <a:off x="3108960" y="6097380"/>
            <a:ext cx="7057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1 - </a:t>
            </a:r>
            <a:r>
              <a:rPr lang="ru-RU" sz="16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Неполная таблица для моделирования броуновского движения.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175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13D1C7-2816-5565-FB25-3410AF94B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выполнения курсовой работы. Задача 2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38891-9F06-0E39-5549-0FC46EAA3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538"/>
            <a:ext cx="10515600" cy="4351338"/>
          </a:xfrm>
        </p:spPr>
        <p:txBody>
          <a:bodyPr/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Координаты частицы заданы тригонометрическими функциями, и чтобы получить 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следующее положение точки (в момент времени 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 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1), определяемое расчётом смещения частицы относительно предыдущего положения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суммируем их, как показано на рисунке 2.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D543D5-0D95-421A-290E-DBAE0A8D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6</a:t>
            </a:fld>
            <a:endParaRPr lang="ru-RU"/>
          </a:p>
        </p:txBody>
      </p:sp>
      <p:pic>
        <p:nvPicPr>
          <p:cNvPr id="6" name="Рисунок 5" descr="Изображение выглядит как стол&#10;&#10;Автоматически созданное описание">
            <a:extLst>
              <a:ext uri="{FF2B5EF4-FFF2-40B4-BE49-F238E27FC236}">
                <a16:creationId xmlns:a16="http://schemas.microsoft.com/office/drawing/2014/main" id="{7EBCA9AD-D38C-921B-94AD-6E6FC5726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957" y="3429000"/>
            <a:ext cx="4622086" cy="18656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E5433F-D13F-2E18-2D19-E4F55D0BFAB4}"/>
              </a:ext>
            </a:extLst>
          </p:cNvPr>
          <p:cNvSpPr txBox="1"/>
          <p:nvPr/>
        </p:nvSpPr>
        <p:spPr>
          <a:xfrm>
            <a:off x="3221181" y="5380830"/>
            <a:ext cx="5860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2 - </a:t>
            </a:r>
            <a:r>
              <a:rPr lang="ru-RU" sz="16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Таблица используемых формул для координат точек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02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79777E-4866-EB43-5BA3-63E66BEE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выполнения курсовой работы. Задача 2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74F896-10E6-C5BD-4A74-40FF49116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 как броуновское движение хаотично, то и значение угла, на которое происходит смещение, должно быть случайным. Для этого используем встроенную функцию СЛЧИС() – случайные числа, как показано на рисунке 3.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D1E04E-C254-E900-8DFD-1DA1B91C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7</a:t>
            </a:fld>
            <a:endParaRPr lang="ru-RU"/>
          </a:p>
        </p:txBody>
      </p:sp>
      <p:pic>
        <p:nvPicPr>
          <p:cNvPr id="5" name="Рисунок 4" descr="Изображение выглядит как текст, стол&#10;&#10;Автоматически созданное описание">
            <a:extLst>
              <a:ext uri="{FF2B5EF4-FFF2-40B4-BE49-F238E27FC236}">
                <a16:creationId xmlns:a16="http://schemas.microsoft.com/office/drawing/2014/main" id="{075CB258-2314-9FE3-C0F3-38927C503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520" y="3605273"/>
            <a:ext cx="2346960" cy="17742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3047BA-7DA5-0A80-5885-EB2D70E57A6F}"/>
              </a:ext>
            </a:extLst>
          </p:cNvPr>
          <p:cNvSpPr txBox="1"/>
          <p:nvPr/>
        </p:nvSpPr>
        <p:spPr>
          <a:xfrm>
            <a:off x="3413760" y="5479215"/>
            <a:ext cx="5693091" cy="59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3 - </a:t>
            </a:r>
            <a:r>
              <a:rPr lang="ru-RU" sz="16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Таблица формул для случайного угла направления</a:t>
            </a:r>
            <a:endParaRPr lang="ru-RU" sz="16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73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4FB4D-D01E-BABE-B17E-B9645B79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выполнения курсовой работы. Задача 3.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84AB07-4F00-9B39-FBDA-D1915091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033"/>
            <a:ext cx="10515600" cy="4351338"/>
          </a:xfrm>
        </p:spPr>
        <p:txBody>
          <a:bodyPr/>
          <a:lstStyle/>
          <a:p>
            <a:pPr marL="0" indent="4572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рисунке 4, 5, 6, показаны три модели броуновского процесса.</a:t>
            </a:r>
            <a:endParaRPr lang="ru-RU" sz="20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FE76FC-BF42-B912-5A53-5974A0C0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8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DC56D80-5FC0-C8C4-E240-F484F5C42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3550156" y="2339573"/>
            <a:ext cx="5955287" cy="38147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C21358-7348-A793-E356-3EACDA10F776}"/>
              </a:ext>
            </a:extLst>
          </p:cNvPr>
          <p:cNvSpPr txBox="1"/>
          <p:nvPr/>
        </p:nvSpPr>
        <p:spPr>
          <a:xfrm>
            <a:off x="2509520" y="6154321"/>
            <a:ext cx="8036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ru-RU" sz="16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4 - Модель броуновского движения, полученная при первых случайных числах</a:t>
            </a:r>
            <a:endParaRPr lang="ru-RU" sz="16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583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0EE46-EF6F-BE58-832C-5AF6A7D20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выполнения курсовой работы. Задача 3.</a:t>
            </a:r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E71B3B-57FF-27AD-8E9C-74BD3115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9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51D8C-1285-2128-A470-2037121A7DE9}"/>
              </a:ext>
            </a:extLst>
          </p:cNvPr>
          <p:cNvSpPr txBox="1"/>
          <p:nvPr/>
        </p:nvSpPr>
        <p:spPr>
          <a:xfrm>
            <a:off x="2367280" y="6017796"/>
            <a:ext cx="8036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ru-RU" sz="16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5 - Модель броуновского движения, полученная при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вторых</a:t>
            </a:r>
            <a:r>
              <a:rPr lang="ru-RU" sz="16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случайных числах</a:t>
            </a:r>
            <a:endParaRPr lang="ru-RU" sz="16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AE790E-8F9A-C635-98C0-E9033B0C8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313" y="1984844"/>
            <a:ext cx="5936494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43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32D58-59CA-8373-0D63-6C7488073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выполнения курсовой работы. Задача 3.</a:t>
            </a:r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DAF847-3346-FFA9-06FC-4CC655C5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10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C79309-A28B-8D3D-EBE2-5A39AC99B5D6}"/>
              </a:ext>
            </a:extLst>
          </p:cNvPr>
          <p:cNvSpPr txBox="1"/>
          <p:nvPr/>
        </p:nvSpPr>
        <p:spPr>
          <a:xfrm>
            <a:off x="2367280" y="5875556"/>
            <a:ext cx="8036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ru-RU" sz="16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5 - Модель броуновского движения, полученная при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третьих</a:t>
            </a:r>
            <a:r>
              <a:rPr lang="ru-RU" sz="1600" i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случайных числах</a:t>
            </a:r>
            <a:endParaRPr lang="ru-RU" sz="16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AD99C0-CBA5-B445-6D04-D1EA29D45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313" y="1978864"/>
            <a:ext cx="5936494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187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81CB6-E939-79B6-8183-86AD63FC5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0258A3-934F-5C40-1F65-5ED9A69EE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4572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написании курсовой работы мною был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проведен анализ научной литературы, интернет-ресурсов по теме работы, и из выявленной информации была создана математическую модель для проведения эксперимента. Самой важной задачей является разработка прикладной программы для моделирования броуновского движению.</a:t>
            </a:r>
          </a:p>
          <a:p>
            <a:pPr marL="0" indent="4572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заключение следует отметить, что при реализации программного продукта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была достигнута поставленная цель, таким образом был изучен броуновский процесс. Было выявлено, что броуновское движение – это хаотичное перемещение частиц под действием непрерывного движения молекул вокруг них.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F306EB-47D6-D416-1DCC-3414B5A4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29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3E8B6-EDEF-D645-D7C7-5A3AC2377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480" y="324485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использованных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28200B-9624-D9E5-4C9E-0DC946652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393666"/>
            <a:ext cx="10515600" cy="4351338"/>
          </a:xfrm>
        </p:spPr>
        <p:txBody>
          <a:bodyPr>
            <a:noAutofit/>
          </a:bodyPr>
          <a:lstStyle/>
          <a:p>
            <a:pPr marL="0" lvl="0" indent="4500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Броуновское движение. // 2й_семестр_Лекция_16 URL: http://fn.bmstu.ru/files/FN4/lec_2sem/2sem_lec_16.pdf (дата обращения: 30.11.2022г.).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Кудрявцев П. С. История физики. т. III. От открытия квант до квантовой механики. М.: Просвещение, 1971.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Мякишев Г. Я., Синяков А. З. Физика. Молекулярная физика. Термодинамика. 10 класс. Учебник. Углубленный уровень. М.: Просвещение, 2019.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Броуновское движение // Броуновское движение | 7 класс | Физика URL: https://obrazavr.ru/fizika/7-klass/vvedenie-v-fiziku-stroenie-veshhestva/stroenie-veshhestva/brounovskoe-dvizhenie/#1 (дата обращения: 02.12.2022).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6C41D3-63B6-875F-D4CE-1E462EB1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16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6CA75-0C9C-D717-3954-EE4B7F1B0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использованных источников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567379-0EB1-F242-BC48-F4465ABF0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305"/>
            <a:ext cx="10515600" cy="4351338"/>
          </a:xfrm>
        </p:spPr>
        <p:txBody>
          <a:bodyPr>
            <a:normAutofit/>
          </a:bodyPr>
          <a:lstStyle/>
          <a:p>
            <a:pPr marL="0" lvl="0" indent="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5"/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Г. Я. Мякишев, Б. Б.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Буховцев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Н. Н. Сотский ФИЗИКА. 10 КЛАСС. БАЗОВЫЙ И УГЛУБЛЁННЫЙ УРОВНИ. 9 изд. М.: Просвещение, 2022.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5"/>
            </a:pP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Зудилова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Т. В.,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Одиночкина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С.В., Осетрова И.С., Осипов Н.А. Работа пользователя в Microsoft Excel 2010. СПб.: НИУ ИТМО, 2012. </a:t>
            </a:r>
          </a:p>
          <a:p>
            <a:pPr marL="0" lvl="0" indent="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5"/>
            </a:pPr>
            <a:r>
              <a:rPr lang="ru-RU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Раздел 6. Формулы в </a:t>
            </a:r>
            <a:r>
              <a:rPr lang="en-US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  <a:r>
              <a:rPr lang="ru-RU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// Самоучитель </a:t>
            </a:r>
            <a:r>
              <a:rPr lang="en-US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  <a:r>
              <a:rPr lang="ru-RU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 примерами для пользователей среднего уровня </a:t>
            </a:r>
            <a:r>
              <a:rPr lang="en-US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URL</a:t>
            </a:r>
            <a:r>
              <a:rPr lang="ru-RU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https</a:t>
            </a:r>
            <a:r>
              <a:rPr lang="ru-RU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://</a:t>
            </a:r>
            <a:r>
              <a:rPr lang="en-US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exceltable</a:t>
            </a:r>
            <a:r>
              <a:rPr lang="ru-RU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</a:t>
            </a:r>
            <a:r>
              <a:rPr lang="ru-RU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uroki</a:t>
            </a:r>
            <a:r>
              <a:rPr lang="ru-RU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  <a:r>
              <a:rPr lang="ru-RU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samouchitel</a:t>
            </a:r>
            <a:r>
              <a:rPr lang="ru-RU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  <a:r>
              <a:rPr lang="ru-RU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primerami</a:t>
            </a:r>
            <a:r>
              <a:rPr lang="ru-RU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(дата обращения: 07.12.2022).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7DBD95-E03D-6A06-BFB9-3AE5137BB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5E7-8EBC-4526-8AA0-94BB16B0D50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3479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739</Words>
  <Application>Microsoft Office PowerPoint</Application>
  <PresentationFormat>Широкоэкранный</PresentationFormat>
  <Paragraphs>62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Тема Office</vt:lpstr>
      <vt:lpstr>Курсовая работа по дисциплине «Информационные технологии в физике» Моделирование броуновского движения</vt:lpstr>
      <vt:lpstr>Постановка задачи</vt:lpstr>
      <vt:lpstr>Цель и задачи</vt:lpstr>
      <vt:lpstr>Результат выполнения курсовой работы. Задача 1</vt:lpstr>
      <vt:lpstr>Результат выполнения курсовой работы. Задача 2</vt:lpstr>
      <vt:lpstr>Результат выполнения курсовой работы. Задача 2</vt:lpstr>
      <vt:lpstr>Результат выполнения курсовой работы. Задача 2</vt:lpstr>
      <vt:lpstr>Результат выполнения курсовой работы. Задача 3.</vt:lpstr>
      <vt:lpstr>Результат выполнения курсовой работы. Задача 3.</vt:lpstr>
      <vt:lpstr>Результат выполнения курсовой работы. Задача 3.</vt:lpstr>
      <vt:lpstr>Заключение</vt:lpstr>
      <vt:lpstr>Список использованных источников</vt:lpstr>
      <vt:lpstr>Список использованных источников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по дисциплине «Информационные технологии в физике» Моделирование броуновского движения</dc:title>
  <dc:creator>Виктор Коршунов</dc:creator>
  <cp:lastModifiedBy>Виктор Коршунов</cp:lastModifiedBy>
  <cp:revision>1</cp:revision>
  <dcterms:created xsi:type="dcterms:W3CDTF">2022-12-30T12:54:59Z</dcterms:created>
  <dcterms:modified xsi:type="dcterms:W3CDTF">2022-12-30T14:13:58Z</dcterms:modified>
</cp:coreProperties>
</file>