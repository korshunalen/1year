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64" autoAdjust="0"/>
  </p:normalViewPr>
  <p:slideViewPr>
    <p:cSldViewPr snapToGrid="0">
      <p:cViewPr varScale="1">
        <p:scale>
          <a:sx n="77" d="100"/>
          <a:sy n="77" d="100"/>
        </p:scale>
        <p:origin x="8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5B291-4C5A-C403-C926-2CB8C57AC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3B4951-446B-D8F7-6B47-76580DF4C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66D410-166D-A438-9E06-C5316FC3E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E1DEF4-7A72-F9C3-3004-47853360E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75FE78-91E8-AEED-9E45-A9755FA8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78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95348-C86B-73DC-C002-136AF1320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3840A1-4DA7-11DE-5FEC-70620606A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6499B3-91D8-4D73-86B8-1D6B60A3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0DCC89-C6B6-0BBD-DFB1-5715237A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414346-B0D4-E5B2-6BF9-D428CE712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67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5B87D-0475-CFF8-843A-F7EBCDD6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ED6C64-3434-7AE2-69BD-33E7E405D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08F1E7-FAFE-02A2-5C96-96934828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9B8B51-1F25-3D17-F122-77BB977E4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A09E74-91BB-AF13-5164-C5DA7E53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38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9F48A3-4A49-8550-8595-635D612E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940CE7-3AA6-D5EE-CBB2-343AA87AA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BD0815-0BFA-84EA-00A6-9F173EE33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72DBEC-C385-D937-56D5-543C7221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04DA33-4361-BDD5-2241-01A0A3A0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DBD762-5561-7279-A993-44C9FBF0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85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757AE-11F7-6A31-2426-F4B2FD36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25568F-A634-D7E1-66B3-ACA6A5DB3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CA1677-3CC6-8D18-26D0-B2C2A9FDB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DA91147-AAF5-1EBB-86D2-765B898F6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77F6871-5B43-9F04-410E-4D3938FCC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B2D79C-02FB-6DBA-D2A3-4E05CA9C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2C46C8-DC24-CEC8-9099-C7CBE048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65D2C1D-C00A-DE87-9D21-AD892D7C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034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67F4F-BF53-DDAB-8FBA-2486E7ED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EA4536-94ED-5CE6-BE5E-96CC2D91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B304EA-5AFB-F389-E6AE-84422E05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54F5E8-D70E-728A-88BB-E837AADB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33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66039DD-C8BB-F42F-5E5E-A984851D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B5A704-167E-4025-75E3-9403AB97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833C30-A062-F946-CFBB-D006D31B7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95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63DBB-4382-668A-D282-F4E186E56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86DF1B-CED2-31FC-DFC5-A91AE6D2A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6F5253-A2D4-7822-4D3E-AFCA6B9FE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0AFE66-F2CC-B30E-B195-00DD3235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56383F-3A69-D085-D4B6-F609B3F2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4B252B-46D2-A9AC-577F-FB372078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460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03A8D-99D8-937C-DE05-92E35296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5DD6FE-2077-5D47-0F39-3DB1A7000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E0EA0B-9CCF-4DE3-4833-47A136087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8275CC-540A-BCCA-43A6-5B1B967CB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700A1E-B4A8-3F56-7241-DC9856994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AFE623-F81E-0848-D3CE-F0F221E90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6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328EC7-4DE3-E3C4-C101-20955364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4EE965-B887-2F2A-7CBA-7B32F3D76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A95E68-FCAD-ED04-CFFC-A1C484A9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90BCB2-EE95-784C-6195-7B8BA8B8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C18869-4963-D349-93AE-EC65FA92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79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3E0AE1B-314E-1D34-9372-FF435F649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DF88C3-FCDE-1A02-AEC3-A067F75FA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B89F23-10AD-D664-1BCB-5DF03A70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C8645E-8983-AA7E-B3B1-3B08DCF15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64303D-B80B-DAF2-1247-D8757932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635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6535F9-1D3B-386E-09C9-F574D66C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5C8452-EAA1-A7D1-0239-83BDFA473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368E29-3332-C073-52FB-C307E4A13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A28B2-6F44-4E2E-B0FC-F7C670AC98FC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BEBC93-7EAF-46B5-9981-4A5A8261B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90963A-F9B2-D690-4E6C-1C3961291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682CC-DA96-4812-AB28-FF88C8AED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78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adi.sk/i/6FZ2drIJ4XQINg" TargetMode="External"/><Relationship Id="rId2" Type="http://schemas.openxmlformats.org/officeDocument/2006/relationships/hyperlink" Target="https://samara.mgpu.ru/~dzhadzha/dis/1/maxima2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F187BD-1A38-2A12-5247-D41C91D04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>
            <a:noAutofit/>
          </a:bodyPr>
          <a:lstStyle/>
          <a:p>
            <a:r>
              <a:rPr lang="ru-RU" sz="4800" b="0" i="0" dirty="0">
                <a:solidFill>
                  <a:srgbClr val="1A1A1A"/>
                </a:solidFill>
                <a:effectLst/>
                <a:latin typeface="YS Text"/>
              </a:rPr>
              <a:t>Решение задач математического анализа в прикладной компьютерной программе </a:t>
            </a:r>
            <a:r>
              <a:rPr lang="en-US" sz="4800" b="0" i="0" dirty="0">
                <a:solidFill>
                  <a:srgbClr val="1A1A1A"/>
                </a:solidFill>
                <a:effectLst/>
                <a:latin typeface="YS Text"/>
              </a:rPr>
              <a:t>M</a:t>
            </a:r>
            <a:r>
              <a:rPr lang="en-US" sz="4800" dirty="0">
                <a:solidFill>
                  <a:srgbClr val="1A1A1A"/>
                </a:solidFill>
                <a:latin typeface="YS Text"/>
              </a:rPr>
              <a:t>axima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1355A1-EFB9-082A-C28A-0E0C67B96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0852" y="5047380"/>
            <a:ext cx="9144000" cy="1655762"/>
          </a:xfrm>
        </p:spPr>
        <p:txBody>
          <a:bodyPr/>
          <a:lstStyle/>
          <a:p>
            <a:r>
              <a:rPr lang="ru-RU" dirty="0"/>
              <a:t>Презентацию подготовил студент ИВТ </a:t>
            </a:r>
            <a:r>
              <a:rPr lang="ru-RU" dirty="0" err="1"/>
              <a:t>гр</a:t>
            </a:r>
            <a:r>
              <a:rPr lang="ru-RU" dirty="0"/>
              <a:t> 2.2. </a:t>
            </a:r>
            <a:r>
              <a:rPr lang="ru-RU" dirty="0" err="1"/>
              <a:t>Гумирова</a:t>
            </a:r>
            <a:r>
              <a:rPr lang="ru-RU" dirty="0"/>
              <a:t> Алена</a:t>
            </a:r>
          </a:p>
        </p:txBody>
      </p:sp>
    </p:spTree>
    <p:extLst>
      <p:ext uri="{BB962C8B-B14F-4D97-AF65-F5344CB8AC3E}">
        <p14:creationId xmlns:p14="http://schemas.microsoft.com/office/powerpoint/2010/main" val="2477404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24A27-2991-5E16-7444-5078E6B3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производной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1EC09F-54C1-D457-CAA6-42A11CBB4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142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Функция </a:t>
            </a:r>
            <a:r>
              <a:rPr lang="ru-RU" sz="2400" dirty="0" err="1"/>
              <a:t>diff</a:t>
            </a:r>
            <a:r>
              <a:rPr lang="ru-RU" sz="2400" dirty="0"/>
              <a:t> позволяет найти производные, как первого, так и более высоких порядков. При наличии у функции нескольких переменных можно найти частную производную по одной из них.</a:t>
            </a:r>
          </a:p>
          <a:p>
            <a:r>
              <a:rPr lang="ru-RU" sz="2400" u="sng" dirty="0"/>
              <a:t>Синтаксис</a:t>
            </a:r>
            <a:r>
              <a:rPr lang="ru-RU" sz="2400" dirty="0"/>
              <a:t>: </a:t>
            </a:r>
            <a:r>
              <a:rPr lang="ru-RU" sz="2400" dirty="0" err="1"/>
              <a:t>diff</a:t>
            </a:r>
            <a:r>
              <a:rPr lang="ru-RU" sz="2400" dirty="0"/>
              <a:t>(функция, переменная, порядок производной);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D74EEB-A896-5A88-2A5E-68C1FBC24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3837034" cy="24915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EF52E4-9992-CBCC-651E-0FCC81056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857" y="3429000"/>
            <a:ext cx="5384739" cy="11218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648666-4798-6629-28EE-051FF52A0815}"/>
              </a:ext>
            </a:extLst>
          </p:cNvPr>
          <p:cNvSpPr txBox="1"/>
          <p:nvPr/>
        </p:nvSpPr>
        <p:spPr>
          <a:xfrm>
            <a:off x="4814123" y="5009830"/>
            <a:ext cx="68911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Если нам нужно найти производную первого порядка, то мы можем не указывать порядок, для остальных же случаев порядок указывается после аргумента, которому оно соответствует.</a:t>
            </a:r>
          </a:p>
        </p:txBody>
      </p:sp>
    </p:spTree>
    <p:extLst>
      <p:ext uri="{BB962C8B-B14F-4D97-AF65-F5344CB8AC3E}">
        <p14:creationId xmlns:p14="http://schemas.microsoft.com/office/powerpoint/2010/main" val="8327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89518-08D7-6480-9FBC-D6822160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неопределенного интеграла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CBC920-53F4-9F2A-31B8-3622EB06E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Для нахождения неопределенного интеграла в качестве аргументов указывается функция и переменная интегрирования. </a:t>
            </a:r>
          </a:p>
          <a:p>
            <a:r>
              <a:rPr lang="ru-RU" sz="2400" u="sng" dirty="0"/>
              <a:t>Синтаксис</a:t>
            </a:r>
            <a:r>
              <a:rPr lang="ru-RU" sz="2400" dirty="0"/>
              <a:t>: </a:t>
            </a:r>
            <a:r>
              <a:rPr lang="ru-RU" sz="2400" dirty="0" err="1"/>
              <a:t>integrate</a:t>
            </a:r>
            <a:r>
              <a:rPr lang="ru-RU" sz="2400" dirty="0"/>
              <a:t>(функция, переменная);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F4DA2B-787F-09F6-C8FF-7096F7D38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50342"/>
            <a:ext cx="6154969" cy="15559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141288-0DA0-42F5-1175-C829FBFF3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027" y="4493343"/>
            <a:ext cx="5887049" cy="207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439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1545F-8845-5C0E-20BC-E4F270F2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определенного интеграла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497E9B-DF14-80EC-1AE9-3EEC50FCB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При нахождении значения определенного интеграла помимо рассмотренных параметров указываются пределы интегрирования. В качестве пределов интегрирования могут фигурировать бесконечность (</a:t>
            </a:r>
            <a:r>
              <a:rPr lang="ru-RU" sz="2400" dirty="0" err="1"/>
              <a:t>inf</a:t>
            </a:r>
            <a:r>
              <a:rPr lang="ru-RU" sz="2400" dirty="0"/>
              <a:t>) и минус бесконечность (</a:t>
            </a:r>
            <a:r>
              <a:rPr lang="ru-RU" sz="2400" dirty="0" err="1"/>
              <a:t>minf</a:t>
            </a:r>
            <a:r>
              <a:rPr lang="ru-RU" sz="2400" dirty="0"/>
              <a:t>). </a:t>
            </a:r>
          </a:p>
          <a:p>
            <a:r>
              <a:rPr lang="ru-RU" sz="2400" u="sng" dirty="0"/>
              <a:t>Синтаксис</a:t>
            </a:r>
            <a:r>
              <a:rPr lang="ru-RU" sz="2400" dirty="0"/>
              <a:t>: </a:t>
            </a:r>
            <a:r>
              <a:rPr lang="ru-RU" sz="2400" dirty="0" err="1"/>
              <a:t>integrate</a:t>
            </a:r>
            <a:r>
              <a:rPr lang="ru-RU" sz="2400" dirty="0"/>
              <a:t>(функция, переменная, левый предел, правый предел);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44842E-C1B4-E33A-8F92-432520B5B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71797"/>
            <a:ext cx="5043465" cy="16129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E12CEE-A362-975C-9AA1-13A4F437D80C}"/>
              </a:ext>
            </a:extLst>
          </p:cNvPr>
          <p:cNvSpPr txBox="1"/>
          <p:nvPr/>
        </p:nvSpPr>
        <p:spPr>
          <a:xfrm>
            <a:off x="5881665" y="4338397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случае, когда интеграл расходится Maxima выдает сообщение "</a:t>
            </a:r>
            <a:r>
              <a:rPr lang="ru-RU" sz="2400" dirty="0" err="1"/>
              <a:t>Integral</a:t>
            </a:r>
            <a:r>
              <a:rPr lang="ru-RU" sz="2400" dirty="0"/>
              <a:t> </a:t>
            </a:r>
            <a:r>
              <a:rPr lang="ru-RU" sz="2400" dirty="0" err="1"/>
              <a:t>is</a:t>
            </a:r>
            <a:r>
              <a:rPr lang="ru-RU" sz="2400" dirty="0"/>
              <a:t> </a:t>
            </a:r>
            <a:r>
              <a:rPr lang="ru-RU" sz="2400" dirty="0" err="1"/>
              <a:t>divergent</a:t>
            </a:r>
            <a:r>
              <a:rPr lang="ru-RU" sz="2400" dirty="0"/>
              <a:t>".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41734E-2CFB-422A-DEDD-62A93B76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507" y="5169829"/>
            <a:ext cx="5942596" cy="91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8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2FE84-028D-131A-CF58-3749D626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интеграла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CBAF6C-F3AC-0A7E-114A-E4BD719F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некоторых случаях Maxima может попросить доопределить некоторую переменную.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1CBB2D-D5A9-C2A3-5D03-DED6E4E88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26" y="2882430"/>
            <a:ext cx="4557417" cy="29717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7C55D8-1EBE-EBA3-3238-085E803EAECD}"/>
              </a:ext>
            </a:extLst>
          </p:cNvPr>
          <p:cNvSpPr txBox="1"/>
          <p:nvPr/>
        </p:nvSpPr>
        <p:spPr>
          <a:xfrm>
            <a:off x="5577043" y="2882430"/>
            <a:ext cx="59581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В четвертой строке у нас идет запрос значения n, если n=-1,</a:t>
            </a:r>
            <a:r>
              <a:rPr lang="en-US" sz="2400" dirty="0"/>
              <a:t> </a:t>
            </a:r>
            <a:r>
              <a:rPr lang="ru-RU" sz="2400" dirty="0"/>
              <a:t>то он вычисляет интеграл из функции 1/x.</a:t>
            </a:r>
          </a:p>
          <a:p>
            <a:r>
              <a:rPr lang="ru-RU" sz="2400" dirty="0"/>
              <a:t>В пятой строке идет запрос также на значение n, только в этом случае говорим,</a:t>
            </a:r>
            <a:r>
              <a:rPr lang="en-US" sz="2400" dirty="0"/>
              <a:t> </a:t>
            </a:r>
            <a:r>
              <a:rPr lang="ru-RU" sz="2400" dirty="0"/>
              <a:t>что не равно -1. И тогда интегрируется как степенная функция.</a:t>
            </a:r>
          </a:p>
        </p:txBody>
      </p:sp>
    </p:spTree>
    <p:extLst>
      <p:ext uri="{BB962C8B-B14F-4D97-AF65-F5344CB8AC3E}">
        <p14:creationId xmlns:p14="http://schemas.microsoft.com/office/powerpoint/2010/main" val="1072008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EF959-A0FF-BE2B-F7F1-768EFFBDE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пределов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4DC5D-C8A8-4BE9-788E-7336D6F78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u="sng" dirty="0"/>
              <a:t>Синтаксис</a:t>
            </a:r>
            <a:r>
              <a:rPr lang="ru-RU" sz="2400" dirty="0"/>
              <a:t>: </a:t>
            </a:r>
            <a:r>
              <a:rPr lang="ru-RU" sz="2400" dirty="0" err="1"/>
              <a:t>limit</a:t>
            </a:r>
            <a:r>
              <a:rPr lang="ru-RU" sz="2400" dirty="0"/>
              <a:t>(функция, переменная, значение); или </a:t>
            </a:r>
            <a:r>
              <a:rPr lang="ru-RU" sz="2400" dirty="0" err="1"/>
              <a:t>limit</a:t>
            </a:r>
            <a:r>
              <a:rPr lang="ru-RU" sz="2400" dirty="0"/>
              <a:t>(функция, переменная, значение, слева/справа); Предел слева обозначается </a:t>
            </a:r>
            <a:r>
              <a:rPr lang="ru-RU" sz="2400" dirty="0" err="1"/>
              <a:t>minus</a:t>
            </a:r>
            <a:r>
              <a:rPr lang="ru-RU" sz="2400" dirty="0"/>
              <a:t>, а справа - </a:t>
            </a:r>
            <a:r>
              <a:rPr lang="ru-RU" sz="2400" dirty="0" err="1"/>
              <a:t>plus</a:t>
            </a:r>
            <a:r>
              <a:rPr lang="ru-RU" sz="2400" dirty="0"/>
              <a:t>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7B7A93-B3DA-AA07-58C0-78CA22CA8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48" y="3270013"/>
            <a:ext cx="5249500" cy="264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6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BB42A-BBED-38DD-E71A-BD9AD9AC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Разложение в ряд Тейлора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3F951B-D8E0-1216-0EF2-BC6D9372B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u="sng" dirty="0"/>
              <a:t>Синтаксис</a:t>
            </a:r>
            <a:r>
              <a:rPr lang="ru-RU" sz="2400" dirty="0"/>
              <a:t>: </a:t>
            </a:r>
            <a:r>
              <a:rPr lang="ru-RU" sz="2400" dirty="0" err="1"/>
              <a:t>taylor</a:t>
            </a:r>
            <a:r>
              <a:rPr lang="ru-RU" sz="2400" dirty="0"/>
              <a:t>(функция, x, a, n). Параметр n определяет, до какой степени (x-a) находить решение.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14666A-870E-7F0C-80F7-D75B0A111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063" y="3238443"/>
            <a:ext cx="8029011" cy="169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2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6F65E4-8D97-D0F1-7802-C680B006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суммы ряда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D5289-11C8-0E9A-BC63-A879F7E28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u="sng" dirty="0"/>
              <a:t>Синтаксис</a:t>
            </a:r>
            <a:r>
              <a:rPr lang="ru-RU" sz="2400" dirty="0"/>
              <a:t>: </a:t>
            </a:r>
            <a:r>
              <a:rPr lang="ru-RU" sz="2400" dirty="0" err="1"/>
              <a:t>sum</a:t>
            </a:r>
            <a:r>
              <a:rPr lang="ru-RU" sz="2400" dirty="0"/>
              <a:t>(функция, переменная, индекс начального члена ряда, индекс конечного члена ряда).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55B79F-D734-2350-B70B-B133AF5C0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371" y="2708969"/>
            <a:ext cx="5516228" cy="33325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A0AC53-8F20-8426-41B1-F2034583ABA4}"/>
              </a:ext>
            </a:extLst>
          </p:cNvPr>
          <p:cNvSpPr txBox="1"/>
          <p:nvPr/>
        </p:nvSpPr>
        <p:spPr>
          <a:xfrm>
            <a:off x="7424530" y="3429000"/>
            <a:ext cx="4422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Чтобы упростить некоторый полученный ряд, используют </a:t>
            </a:r>
            <a:r>
              <a:rPr lang="en-US" sz="2400" dirty="0" err="1"/>
              <a:t>simpsum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140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37CD21-1885-C7CE-E6C8-4BB235EA1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7747A2-F089-9D01-6063-7B3AB3EBC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Таким образом, программа </a:t>
            </a:r>
            <a:r>
              <a:rPr lang="en-US" dirty="0"/>
              <a:t>Maxima </a:t>
            </a:r>
            <a:r>
              <a:rPr lang="ru-RU" dirty="0"/>
              <a:t>способна решать ряд задач математического анализа, что упрощает вычисление различных сложных исследований.</a:t>
            </a:r>
          </a:p>
        </p:txBody>
      </p:sp>
    </p:spTree>
    <p:extLst>
      <p:ext uri="{BB962C8B-B14F-4D97-AF65-F5344CB8AC3E}">
        <p14:creationId xmlns:p14="http://schemas.microsoft.com/office/powerpoint/2010/main" val="872992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8A564-9644-7F15-C6C8-FD1AD6BA7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на 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7E5441-81A1-5B12-EB80-0CFC29D99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https://samara.mgpu.ru/~dzhadzha/dis/1/maxima2.pdf</a:t>
            </a:r>
            <a:br>
              <a:rPr lang="ru-RU" dirty="0"/>
            </a:br>
            <a:r>
              <a:rPr lang="en-US" dirty="0">
                <a:hlinkClick r:id="rId3"/>
              </a:rPr>
              <a:t>https://yadi.sk/i/6FZ2drIJ4XQINg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8820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383</Words>
  <Application>Microsoft Office PowerPoint</Application>
  <PresentationFormat>Широкоэкранный</PresentationFormat>
  <Paragraphs>28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YS Text</vt:lpstr>
      <vt:lpstr>Тема Office</vt:lpstr>
      <vt:lpstr>Решение задач математического анализа в прикладной компьютерной программе Maxima</vt:lpstr>
      <vt:lpstr>Нахождение производной </vt:lpstr>
      <vt:lpstr>Нахождение неопределенного интеграла</vt:lpstr>
      <vt:lpstr>Нахождение определенного интеграла</vt:lpstr>
      <vt:lpstr>Нахождение интеграла</vt:lpstr>
      <vt:lpstr>Нахождение пределов</vt:lpstr>
      <vt:lpstr>Разложение в ряд Тейлора</vt:lpstr>
      <vt:lpstr>Нахождение суммы ряда</vt:lpstr>
      <vt:lpstr>Заключение</vt:lpstr>
      <vt:lpstr>Ссылки на 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задач математического анализа в прикладной компьютерной программе Maxima</dc:title>
  <dc:creator>Виктор Коршунов</dc:creator>
  <cp:lastModifiedBy>Виктор Коршунов</cp:lastModifiedBy>
  <cp:revision>2</cp:revision>
  <dcterms:created xsi:type="dcterms:W3CDTF">2022-12-24T18:42:22Z</dcterms:created>
  <dcterms:modified xsi:type="dcterms:W3CDTF">2022-12-24T20:58:16Z</dcterms:modified>
</cp:coreProperties>
</file>