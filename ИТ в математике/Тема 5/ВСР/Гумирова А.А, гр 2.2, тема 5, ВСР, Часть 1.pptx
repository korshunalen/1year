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20" autoAdjust="0"/>
  </p:normalViewPr>
  <p:slideViewPr>
    <p:cSldViewPr snapToGrid="0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9CA77-627F-AEE7-396E-9ED4842EF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5DD4E2-D124-8307-1FED-FBAD6D833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77A23C-99E3-1598-7CA0-175FF33F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AD9EE6-6E43-FB52-71D3-C6A6BAABF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19BD35-6CD2-6871-CC1C-7388B985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12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73837-2421-8F4E-5EC0-C85F4138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00BA0E-68C7-9DB4-02F3-7B4AD5067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CCB4DD-2E07-525E-D963-F31B7966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7FE367-B110-BFF9-0E3E-64BFE3E6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C184B-8312-FD23-0FFD-52F598E3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26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BD69ED-C969-8D67-7779-902B8353A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8BA3B6-02EC-A0A5-2A64-F77EB7C7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35B9F9-9329-1AEE-F363-FAEFDD43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6FC135-D5DD-60FC-FAFC-2C3D0ED8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7CEAC0-2ADC-9835-F935-138B882E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986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6D5CF-6A19-C6F0-1ABB-0F562EBE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2C5CD8-4120-7FEF-B9A4-D95CE5F70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A66225-D681-C5ED-7C3E-B87B13DAF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563FC5-2067-058E-2001-BF99E67BD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F78E57-724A-CA8D-4D85-3A05B30A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8415EE-9B76-2466-244A-3682E5E8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61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1E806-ED73-E965-085E-319D1D20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B23270-BE64-9AB8-E2C9-CF6501FB7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56C390-E7FE-C3EC-DD32-C48B83412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1F45DF-8471-74D3-2811-CBD4E2E7A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3CC3C60-23DD-19DA-9650-0DD5FB09E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DE9B26A-B369-6C49-4BF8-7A8BFDA9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3E75F90-07C2-5AC8-111A-06C6775B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17136F1-D820-E13D-CEC2-0657B157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634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AD5C5-85CF-4DD7-085E-DD441C7A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EB9D1A4-916C-E109-6388-BD102B28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A8CD31-D49C-ABB8-1E2E-96AAD4D6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91CA08-F4A5-FFE1-54E7-FC037D4C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011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2239AF8-8CB6-9330-2AED-9ABB7876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DBC42A-99EF-406B-A442-A5BA87B1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153801-DAEE-50EB-2E77-6B928676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44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F63BF2-95DF-D934-3F35-01898874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F515C4-3DF8-5230-EA09-FD19658E0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B78542-23B7-45CC-0AB2-5760192B9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FC6A41-F05E-8192-1E7E-88999FD87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57AAA-683D-9070-AE13-FA901260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40C104-CB32-CCD2-098B-A3F2B0AF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89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72B4F-6D8B-6800-AC70-DF7B7888A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ACA0509-3949-FF8E-7D29-5E38D17BE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036AB8-4831-63E5-8015-FEB8CF130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58955F-20B1-26B7-AB30-8162930C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1F65F3-9120-7BD1-4116-C235277B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55207C-2B80-718F-24D2-7EAA2DE65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801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F1CCC3-0C4E-6273-5707-E745877C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A52EF2-AF5F-26B1-643F-58DA52115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84B995-8321-904E-3CB0-8EBAA075C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F09EF7-E5EE-0B74-006F-D1175D1C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5E8DC7-742C-CBA8-39A0-93B4AB91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491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D02470E-A7EF-C357-CD30-A7BF57160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CD47CD-99F9-C686-530F-45ABAFEEE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5EB06E-9E6C-A45D-8D86-A73F4672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3AFD0E-F454-16E7-D0EC-90A23550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5EA860-F6CD-37C3-5AEE-0EBCBE4F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45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DC751-9869-B69A-0627-EEFEAD42F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820B7D-834F-1924-1064-D3CA5CB95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461115-B00F-255C-C25D-E131590815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CF45D-F6AF-4689-8F00-E83A9E793EC5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51E97-C6EB-A017-DB54-E142FA529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1CCCFA-2087-B1C4-1DC4-EB26499D8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1E6EC-CB0E-4D10-A4F3-72AEA01F69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01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yadi.sk/i/bUzGTdyelkYtyQ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046A6-F8D6-008E-AF06-26D2BE1CB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8776"/>
            <a:ext cx="9144000" cy="2387600"/>
          </a:xfrm>
        </p:spPr>
        <p:txBody>
          <a:bodyPr>
            <a:noAutofit/>
          </a:bodyPr>
          <a:lstStyle/>
          <a:p>
            <a:r>
              <a:rPr lang="ru-RU" sz="4800" b="0" i="0" dirty="0">
                <a:solidFill>
                  <a:srgbClr val="1A1A1A"/>
                </a:solidFill>
                <a:effectLst/>
                <a:latin typeface="YS Text"/>
              </a:rPr>
              <a:t>Работа с выражениями и уравнениями в прикладной компьютерной программе </a:t>
            </a:r>
            <a:r>
              <a:rPr lang="en-US" sz="4800" b="0" i="0" dirty="0">
                <a:solidFill>
                  <a:srgbClr val="1A1A1A"/>
                </a:solidFill>
                <a:effectLst/>
                <a:latin typeface="YS Text"/>
              </a:rPr>
              <a:t>Maxima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4DC1DF-ADB6-9478-7115-7F60CD644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8735" y="4762244"/>
            <a:ext cx="9144000" cy="1655762"/>
          </a:xfrm>
        </p:spPr>
        <p:txBody>
          <a:bodyPr/>
          <a:lstStyle/>
          <a:p>
            <a:r>
              <a:rPr lang="ru-RU" dirty="0"/>
              <a:t>Презентацию подготовил студент ИВТ </a:t>
            </a:r>
            <a:r>
              <a:rPr lang="ru-RU" dirty="0" err="1"/>
              <a:t>гр</a:t>
            </a:r>
            <a:r>
              <a:rPr lang="ru-RU" dirty="0"/>
              <a:t> 2.2. </a:t>
            </a:r>
            <a:r>
              <a:rPr lang="ru-RU" dirty="0" err="1"/>
              <a:t>Гумирова</a:t>
            </a:r>
            <a:r>
              <a:rPr lang="ru-RU" dirty="0"/>
              <a:t> Алена</a:t>
            </a:r>
          </a:p>
        </p:txBody>
      </p:sp>
    </p:spTree>
    <p:extLst>
      <p:ext uri="{BB962C8B-B14F-4D97-AF65-F5344CB8AC3E}">
        <p14:creationId xmlns:p14="http://schemas.microsoft.com/office/powerpoint/2010/main" val="818071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BA0F7-6B46-A33B-2D83-39DE45347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YS Text"/>
              </a:rPr>
              <a:t>Работа с выражениями. Работа с подстановкой чисел в выражение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E6ADC2-4149-2418-C4A2-D2BC4EA35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1524000"/>
            <a:ext cx="10911348" cy="4652963"/>
          </a:xfrm>
        </p:spPr>
        <p:txBody>
          <a:bodyPr/>
          <a:lstStyle/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В программе Maxima имеются два режима работы с подстановкой чисел в выражения. В одном из них число только подставляется в выражение, во втором происходит вычисление. В исходном состоянии программа находится во втором режиме, и при написанных выше действиях получится выражение, а не его значение.</a:t>
            </a:r>
          </a:p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Флаг «</a:t>
            </a:r>
            <a:r>
              <a:rPr lang="ru-RU" sz="2400" b="0" i="0" dirty="0" err="1">
                <a:solidFill>
                  <a:srgbClr val="1A1A1A"/>
                </a:solidFill>
                <a:effectLst/>
                <a:latin typeface="YS Text"/>
              </a:rPr>
              <a:t>numer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» – это флаг численных вычислений. Он влияет на представление чисел, которыми вы оперируете.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2CA370-DC1E-F35F-67DE-988C004E8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530" y="3840649"/>
            <a:ext cx="3647767" cy="283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56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90E19C-339B-F6A9-B56E-EE221C87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YS Text"/>
              </a:rPr>
              <a:t>Работа с выражениями. Работа с подстановкой чисел в выражение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02955E-A86A-B59D-781E-D6A78198A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Функция </a:t>
            </a:r>
            <a:r>
              <a:rPr lang="ru-RU" sz="2400" b="0" i="0" dirty="0" err="1">
                <a:solidFill>
                  <a:srgbClr val="1A1A1A"/>
                </a:solidFill>
                <a:effectLst/>
                <a:latin typeface="YS Text"/>
              </a:rPr>
              <a:t>rat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(число) приводит число, записанное в виде конечной десятичной дроби, к рациональному числу, записанному обыкновенной дробью.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83C7D8-4E10-9FE7-4DA6-527F7CC61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45" y="2918442"/>
            <a:ext cx="6598536" cy="295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CE378-17CA-4FC0-8FA4-DB56C0D7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YS Text"/>
              </a:rPr>
              <a:t>Работа с выражениями. Преобразование рационального выражения к канонической форме.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EFF878-B11A-6F46-7B23-3196D758A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В общем виде: </a:t>
            </a:r>
            <a:r>
              <a:rPr lang="ru-RU" sz="2400" b="0" i="0" dirty="0" err="1">
                <a:solidFill>
                  <a:srgbClr val="1A1A1A"/>
                </a:solidFill>
                <a:effectLst/>
                <a:latin typeface="YS Text"/>
              </a:rPr>
              <a:t>rat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 (выражение)</a:t>
            </a:r>
          </a:p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Приведение к канонической форме: раскрытие скобок, затем приведение к общему знаменателю, суммирование, сокращение. Также все числа приводятся в конечной десятичной записи к рациональным.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4D2C69-69F9-3B98-0176-A3FCBBD7A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947" y="3498101"/>
            <a:ext cx="5588106" cy="281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82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07CE5-907A-C4A1-9E03-90BF9CE4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2" y="394621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YS Text"/>
              </a:rPr>
              <a:t>Работа с выражениями. Представление выражения в виде суммы простейших дробей</a:t>
            </a:r>
            <a:r>
              <a:rPr lang="en-US" sz="3600" dirty="0">
                <a:solidFill>
                  <a:srgbClr val="1A1A1A"/>
                </a:solidFill>
                <a:latin typeface="YS Text"/>
              </a:rPr>
              <a:t>.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12F6D7-99EF-7BCE-316D-F8BF9B1F6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Если необходимо представить выражение в виде суммы простейших дробей, то эту задачу</a:t>
            </a:r>
            <a:r>
              <a:rPr lang="en-US" sz="2400" b="0" i="0" dirty="0">
                <a:solidFill>
                  <a:srgbClr val="1A1A1A"/>
                </a:solidFill>
                <a:effectLst/>
                <a:latin typeface="YS Text"/>
              </a:rPr>
              <a:t> 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решает функция </a:t>
            </a:r>
            <a:endParaRPr lang="en-US" sz="2400" dirty="0">
              <a:solidFill>
                <a:srgbClr val="1A1A1A"/>
              </a:solidFill>
              <a:latin typeface="YS Text"/>
            </a:endParaRPr>
          </a:p>
          <a:p>
            <a:pPr marL="0" indent="0" algn="ctr">
              <a:buNone/>
            </a:pPr>
            <a:r>
              <a:rPr lang="ru-RU" sz="2400" b="1" i="0" dirty="0" err="1">
                <a:solidFill>
                  <a:srgbClr val="1A1A1A"/>
                </a:solidFill>
                <a:effectLst/>
                <a:latin typeface="YS Text"/>
              </a:rPr>
              <a:t>partfrac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(выражение, имя переменной)</a:t>
            </a:r>
            <a:endParaRPr lang="en-US" sz="2400" b="0" i="0" dirty="0">
              <a:solidFill>
                <a:srgbClr val="1A1A1A"/>
              </a:solidFill>
              <a:effectLst/>
              <a:latin typeface="YS Text"/>
            </a:endParaRPr>
          </a:p>
          <a:p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В общем виде выражение – это то</a:t>
            </a:r>
            <a:r>
              <a:rPr lang="en-US" sz="2400" b="0" i="0" dirty="0">
                <a:solidFill>
                  <a:srgbClr val="1A1A1A"/>
                </a:solidFill>
                <a:effectLst/>
                <a:latin typeface="YS Text"/>
              </a:rPr>
              <a:t> 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выражение, которое надо преобразовать в сумму простейших дробей. Имя переменной – это та</a:t>
            </a:r>
            <a:r>
              <a:rPr lang="en-US" sz="2400" b="0" i="0" dirty="0">
                <a:solidFill>
                  <a:srgbClr val="1A1A1A"/>
                </a:solidFill>
                <a:effectLst/>
                <a:latin typeface="YS Text"/>
              </a:rPr>
              <a:t> 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переменная, относительно которой реализуется данное преобразование.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C2B3E4-B28A-03F8-C56D-0E34E1921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050" y="4249683"/>
            <a:ext cx="5137899" cy="231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89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0860B-91CB-1D10-C909-358C67767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YS Text"/>
              </a:rPr>
              <a:t>Работа с выражениями. </a:t>
            </a:r>
            <a:r>
              <a:rPr lang="ru-RU" sz="3600" dirty="0">
                <a:solidFill>
                  <a:srgbClr val="1A1A1A"/>
                </a:solidFill>
                <a:latin typeface="YS Text"/>
              </a:rPr>
              <a:t>Р</a:t>
            </a:r>
            <a:r>
              <a:rPr lang="ru-RU" sz="3600" b="0" i="0" dirty="0">
                <a:solidFill>
                  <a:srgbClr val="1A1A1A"/>
                </a:solidFill>
                <a:effectLst/>
                <a:latin typeface="YS Text"/>
              </a:rPr>
              <a:t>аскрытие скобок 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A51062-AF1E-37FF-87CD-3CDB99EA2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За раскрытие скобок отвечает функция </a:t>
            </a:r>
            <a:r>
              <a:rPr lang="ru-RU" sz="2400" b="0" i="0" dirty="0" err="1">
                <a:solidFill>
                  <a:srgbClr val="1A1A1A"/>
                </a:solidFill>
                <a:effectLst/>
                <a:latin typeface="YS Text"/>
              </a:rPr>
              <a:t>ratexpand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(выражение). Чтобы применить функцию, надо сначала набрать выражение, а потом подставить его в функцию. Можно сразу набирать выражение в скобках указанной функции.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9C7D76-C9EF-7407-52E0-D4396D89A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70" y="3294063"/>
            <a:ext cx="6406446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36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2C55D-94EE-38AC-0B83-CA5DCE67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796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YS Text"/>
              </a:rPr>
              <a:t>Работа с выражениями. </a:t>
            </a:r>
            <a:r>
              <a:rPr lang="ru-RU" sz="3600" dirty="0">
                <a:solidFill>
                  <a:srgbClr val="1A1A1A"/>
                </a:solidFill>
                <a:latin typeface="YS Text"/>
              </a:rPr>
              <a:t>Р</a:t>
            </a:r>
            <a:r>
              <a:rPr lang="ru-RU" sz="3600" b="0" i="0" dirty="0">
                <a:solidFill>
                  <a:srgbClr val="1A1A1A"/>
                </a:solidFill>
                <a:effectLst/>
                <a:latin typeface="YS Text"/>
              </a:rPr>
              <a:t>аскрытие скобок 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293878-7A79-2499-4B9E-A375E6A86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Кроме функции </a:t>
            </a:r>
            <a:r>
              <a:rPr lang="ru-RU" sz="2400" b="0" i="0" dirty="0" err="1">
                <a:solidFill>
                  <a:srgbClr val="1A1A1A"/>
                </a:solidFill>
                <a:effectLst/>
                <a:latin typeface="YS Text"/>
              </a:rPr>
              <a:t>ratexpand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(), есть функция </a:t>
            </a:r>
            <a:r>
              <a:rPr lang="ru-RU" sz="2400" b="0" i="0" dirty="0" err="1">
                <a:solidFill>
                  <a:srgbClr val="1A1A1A"/>
                </a:solidFill>
                <a:effectLst/>
                <a:latin typeface="YS Text"/>
              </a:rPr>
              <a:t>expand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(). </a:t>
            </a:r>
            <a:r>
              <a:rPr lang="ru-RU" sz="2400" dirty="0">
                <a:solidFill>
                  <a:srgbClr val="1A1A1A"/>
                </a:solidFill>
                <a:latin typeface="YS Text"/>
              </a:rPr>
              <a:t>Эта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 функция раскрывает скобки на всех уровнях вложенности.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55F1F0-3E7B-D8D8-E11F-384ACD68E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229" y="2979538"/>
            <a:ext cx="8508115" cy="248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1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C1E5D-FF05-8C81-903B-73D98C2E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1A1A1A"/>
                </a:solidFill>
                <a:effectLst/>
                <a:latin typeface="YS Text"/>
              </a:rPr>
              <a:t>Работа с выражениями. Собирание дробей с одинаковым знаменателе</a:t>
            </a:r>
            <a:r>
              <a:rPr lang="ru-RU" sz="3600" dirty="0">
                <a:solidFill>
                  <a:srgbClr val="1A1A1A"/>
                </a:solidFill>
                <a:latin typeface="YS Text"/>
              </a:rPr>
              <a:t>м</a:t>
            </a:r>
            <a:r>
              <a:rPr lang="ru-RU" sz="3600" b="0" i="0" dirty="0">
                <a:solidFill>
                  <a:srgbClr val="1A1A1A"/>
                </a:solidFill>
                <a:effectLst/>
                <a:latin typeface="YS Text"/>
              </a:rPr>
              <a:t>.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084CC1-9B11-D1EC-3BFA-B0C5B4AAB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За собирание дробей с одинаковым знаменателем отвечает функция</a:t>
            </a:r>
          </a:p>
          <a:p>
            <a:pPr marL="0" indent="0" algn="ctr">
              <a:buNone/>
            </a:pPr>
            <a:r>
              <a:rPr lang="en-US" sz="2400" b="0" i="0" dirty="0">
                <a:solidFill>
                  <a:srgbClr val="1A1A1A"/>
                </a:solidFill>
                <a:effectLst/>
                <a:latin typeface="YS Text"/>
              </a:rPr>
              <a:t>combine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(выражение)</a:t>
            </a:r>
          </a:p>
          <a:p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Чтобы применить функцию, надо сначала набрать выражение, а потом подставить его в функцию. Можно сразу набирать выражение в скобках указанной функции.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F1C779-8D19-29B0-64C1-AC15FB36E3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913"/>
          <a:stretch/>
        </p:blipFill>
        <p:spPr>
          <a:xfrm>
            <a:off x="3112751" y="4001294"/>
            <a:ext cx="6104149" cy="12010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F63177-E323-54E6-CC88-B987E5AF5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900" y="5343296"/>
            <a:ext cx="4652200" cy="114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51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81A85-8F84-2063-57ED-5F45CF5D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i="0" dirty="0">
                <a:solidFill>
                  <a:srgbClr val="1A1A1A"/>
                </a:solidFill>
                <a:effectLst/>
                <a:latin typeface="YS Text"/>
              </a:rPr>
              <a:t>Работа с выражениями. </a:t>
            </a:r>
            <a:r>
              <a:rPr lang="ru-RU" sz="3600" dirty="0">
                <a:latin typeface="YS Text"/>
              </a:rPr>
              <a:t>Вынесение за скобки, разложение на множители.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F2270-626B-898A-0DAB-3CCFE5448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Для записи анализируемого выражения в виде произведения сомножителей, то есть</a:t>
            </a:r>
            <a:r>
              <a:rPr lang="en-US" sz="2400" b="0" i="0" dirty="0">
                <a:solidFill>
                  <a:srgbClr val="1A1A1A"/>
                </a:solidFill>
                <a:effectLst/>
                <a:latin typeface="YS Text"/>
              </a:rPr>
              <a:t> 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максимального вынесения за скобки, используется функция </a:t>
            </a:r>
            <a:r>
              <a:rPr lang="ru-RU" sz="2400" b="0" i="0" dirty="0" err="1">
                <a:solidFill>
                  <a:srgbClr val="1A1A1A"/>
                </a:solidFill>
                <a:effectLst/>
                <a:latin typeface="YS Text"/>
              </a:rPr>
              <a:t>factor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().</a:t>
            </a:r>
            <a:endParaRPr lang="en-US" sz="2400" b="0" i="0" dirty="0">
              <a:solidFill>
                <a:srgbClr val="1A1A1A"/>
              </a:solidFill>
              <a:effectLst/>
              <a:latin typeface="YS Text"/>
            </a:endParaRPr>
          </a:p>
          <a:p>
            <a:pPr algn="l"/>
            <a:endParaRPr lang="en-US" sz="2400" dirty="0">
              <a:solidFill>
                <a:srgbClr val="1A1A1A"/>
              </a:solidFill>
              <a:latin typeface="YS Text"/>
            </a:endParaRPr>
          </a:p>
          <a:p>
            <a:pPr marL="0" indent="0" algn="l">
              <a:buNone/>
            </a:pPr>
            <a:endParaRPr lang="ru-RU" sz="2400" dirty="0">
              <a:solidFill>
                <a:srgbClr val="1A1A1A"/>
              </a:solidFill>
              <a:latin typeface="YS Text"/>
            </a:endParaRPr>
          </a:p>
          <a:p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Если многочлен не может быть представлен в виде произведения нескольких сомножителей,</a:t>
            </a:r>
            <a:r>
              <a:rPr lang="en-US" sz="2400" b="0" i="0" dirty="0">
                <a:solidFill>
                  <a:srgbClr val="1A1A1A"/>
                </a:solidFill>
                <a:effectLst/>
                <a:latin typeface="YS Text"/>
              </a:rPr>
              <a:t> 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его можно попытаться преобразовать в сумму таких произведений. Для этого используется функция</a:t>
            </a:r>
            <a:r>
              <a:rPr lang="en-US" sz="2400" b="0" i="0" dirty="0">
                <a:solidFill>
                  <a:srgbClr val="1A1A1A"/>
                </a:solidFill>
                <a:effectLst/>
                <a:latin typeface="YS Text"/>
              </a:rPr>
              <a:t> </a:t>
            </a:r>
            <a:r>
              <a:rPr lang="ru-RU" sz="2400" b="0" i="0" dirty="0" err="1">
                <a:solidFill>
                  <a:srgbClr val="1A1A1A"/>
                </a:solidFill>
                <a:effectLst/>
                <a:latin typeface="YS Text"/>
              </a:rPr>
              <a:t>factorsum</a:t>
            </a:r>
            <a:r>
              <a:rPr lang="ru-RU" sz="2400" b="0" i="0" dirty="0">
                <a:solidFill>
                  <a:srgbClr val="1A1A1A"/>
                </a:solidFill>
                <a:effectLst/>
                <a:latin typeface="YS Text"/>
              </a:rPr>
              <a:t>().</a:t>
            </a:r>
          </a:p>
          <a:p>
            <a:pPr algn="l"/>
            <a:endParaRPr lang="ru-RU" sz="2400" b="0" i="0" dirty="0">
              <a:solidFill>
                <a:srgbClr val="1A1A1A"/>
              </a:solidFill>
              <a:effectLst/>
              <a:latin typeface="YS Text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49E74D-1ACA-C820-D78C-969351039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976" y="2579301"/>
            <a:ext cx="5939286" cy="10855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4F4C76-1A5A-AE69-DF76-D4D188359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793" y="4927022"/>
            <a:ext cx="6598413" cy="157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8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FFD96-501A-122E-FC77-930B509BF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YS Text"/>
              </a:rPr>
              <a:t>Работа с уравнениями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E421D0-7138-B8B5-871B-B9236FF70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YS Text"/>
              </a:rPr>
              <a:t>В системе </a:t>
            </a:r>
            <a:r>
              <a:rPr lang="en-US" sz="2400" dirty="0">
                <a:latin typeface="YS Text"/>
              </a:rPr>
              <a:t>Maxima </a:t>
            </a:r>
            <a:r>
              <a:rPr lang="ru-RU" sz="2400" dirty="0">
                <a:latin typeface="YS Text"/>
              </a:rPr>
              <a:t>для решения линейных и нелинейных уравнений используется встроенная функция:</a:t>
            </a:r>
          </a:p>
          <a:p>
            <a:pPr marL="0" indent="0" algn="ctr">
              <a:buNone/>
            </a:pPr>
            <a:r>
              <a:rPr lang="en-US" sz="2400" dirty="0">
                <a:latin typeface="YS Text"/>
              </a:rPr>
              <a:t>solve</a:t>
            </a:r>
            <a:r>
              <a:rPr lang="ru-RU" sz="2400" dirty="0">
                <a:latin typeface="YS Text"/>
              </a:rPr>
              <a:t>(выражение, переменная)</a:t>
            </a:r>
          </a:p>
          <a:p>
            <a:r>
              <a:rPr lang="ru-RU" sz="2400" dirty="0">
                <a:latin typeface="YS Text"/>
              </a:rPr>
              <a:t>В данном случае функция решает уравнение относительно заданной переменной.</a:t>
            </a:r>
          </a:p>
          <a:p>
            <a:pPr marL="0" indent="0" algn="ctr">
              <a:buNone/>
            </a:pPr>
            <a:r>
              <a:rPr lang="en-US" sz="2400" dirty="0">
                <a:latin typeface="YS Text"/>
              </a:rPr>
              <a:t>solve</a:t>
            </a:r>
            <a:r>
              <a:rPr lang="ru-RU" sz="2400" dirty="0">
                <a:latin typeface="YS Text"/>
              </a:rPr>
              <a:t>(выражение)</a:t>
            </a:r>
          </a:p>
          <a:p>
            <a:r>
              <a:rPr lang="ru-RU" sz="2400" dirty="0">
                <a:latin typeface="YS Text"/>
              </a:rPr>
              <a:t>В этом же случае решает относительно неизвестной переменной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CA2E75-9E25-26D9-FF9E-CDCC163B7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427" y="4900516"/>
            <a:ext cx="5593844" cy="12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54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F3999D-7A0B-318A-101A-F6115719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YS Text"/>
              </a:rPr>
              <a:t>Работа с уравнениями. Приближенные решения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51453E-D7AC-7EA9-2331-E202BD4E6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 помощью команды </a:t>
            </a:r>
            <a:r>
              <a:rPr lang="en-US" sz="2400" b="1" dirty="0" err="1"/>
              <a:t>allroots</a:t>
            </a:r>
            <a:r>
              <a:rPr lang="ru-RU" sz="2400" dirty="0"/>
              <a:t>(выражение) можно найти все приближенные решения алгебраического уравнения.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BC7110-7DAB-A9E2-6911-29E558709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81" y="2804239"/>
            <a:ext cx="9426397" cy="156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65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68EE5-E93F-C9F8-A97D-CC7020FB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YS Text"/>
              </a:rPr>
              <a:t>Работа с уравнениями. Решение систем линейных уравнений 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5268ED-DBE3-6024-0FED-FD49F82C6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 помощью команды </a:t>
            </a:r>
            <a:r>
              <a:rPr lang="en-US" dirty="0"/>
              <a:t>solve </a:t>
            </a:r>
            <a:r>
              <a:rPr lang="ru-RU" dirty="0"/>
              <a:t>можно решить систему линейных уравнений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6DD0C3-44DC-F7C7-325D-F331866AD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147" y="2937411"/>
            <a:ext cx="8612705" cy="323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16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2EBE2-150F-EFC3-6579-960414E79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YS Text"/>
              </a:rPr>
              <a:t>Работа с уравнениями. Решение систем нелинейных уравнений 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EB2B9-4DFC-5BD7-059F-4F05EB7D6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С помощью команды </a:t>
            </a:r>
            <a:r>
              <a:rPr lang="en-US" dirty="0" err="1"/>
              <a:t>algsys</a:t>
            </a:r>
            <a:r>
              <a:rPr lang="ru-RU" dirty="0"/>
              <a:t> можно решить систему нелинейных уравнений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FA55C1-CE4C-728C-AAA2-83EE9C23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387" y="3081114"/>
            <a:ext cx="9547275" cy="225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17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C2D9D-D406-4F80-5F10-0199BFD1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A1C0F-98F4-866E-C651-E32D67CF0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Таким образов, программа </a:t>
            </a:r>
            <a:r>
              <a:rPr lang="en-US" dirty="0"/>
              <a:t>Maxima </a:t>
            </a:r>
            <a:r>
              <a:rPr lang="ru-RU" dirty="0"/>
              <a:t> помогает в решение различных математических задач, где используются выражения, уравнения, системы уравнений.</a:t>
            </a:r>
          </a:p>
        </p:txBody>
      </p:sp>
    </p:spTree>
    <p:extLst>
      <p:ext uri="{BB962C8B-B14F-4D97-AF65-F5344CB8AC3E}">
        <p14:creationId xmlns:p14="http://schemas.microsoft.com/office/powerpoint/2010/main" val="987609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292CA-327D-CE28-3E58-7B69DC4A0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источники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3BCBAD-50F0-3F81-ADAB-364E88685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https://yadi.sk/i/bUzGTdyelkYtyQ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48754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547</Words>
  <Application>Microsoft Office PowerPoint</Application>
  <PresentationFormat>Широкоэкранный</PresentationFormat>
  <Paragraphs>43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YS Text</vt:lpstr>
      <vt:lpstr>Тема Office</vt:lpstr>
      <vt:lpstr>Работа с выражениями и уравнениями в прикладной компьютерной программе Maxima</vt:lpstr>
      <vt:lpstr>Работа с выражениями. Работа с подстановкой чисел в выражение</vt:lpstr>
      <vt:lpstr>Работа с выражениями. Работа с подстановкой чисел в выражение</vt:lpstr>
      <vt:lpstr>Работа с выражениями. Преобразование рационального выражения к канонической форме.</vt:lpstr>
      <vt:lpstr>Работа с выражениями. Представление выражения в виде суммы простейших дробей.</vt:lpstr>
      <vt:lpstr>Работа с выражениями. Раскрытие скобок </vt:lpstr>
      <vt:lpstr>Работа с выражениями. Раскрытие скобок </vt:lpstr>
      <vt:lpstr>Работа с выражениями. Собирание дробей с одинаковым знаменателем.</vt:lpstr>
      <vt:lpstr>Работа с выражениями. Вынесение за скобки, разложение на множители.</vt:lpstr>
      <vt:lpstr>Работа с уравнениями</vt:lpstr>
      <vt:lpstr>Работа с уравнениями. Приближенные решения</vt:lpstr>
      <vt:lpstr>Работа с уравнениями. Решение систем линейных уравнений </vt:lpstr>
      <vt:lpstr>Работа с уравнениями. Решение систем нелинейных уравнений </vt:lpstr>
      <vt:lpstr>Вывод</vt:lpstr>
      <vt:lpstr>Используемые источники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выражениями и уравнениями в прикладной компьютерной программе Maxima</dc:title>
  <dc:creator>Виктор Коршунов</dc:creator>
  <cp:lastModifiedBy>Виктор Коршунов</cp:lastModifiedBy>
  <cp:revision>5</cp:revision>
  <dcterms:created xsi:type="dcterms:W3CDTF">2022-12-24T20:33:16Z</dcterms:created>
  <dcterms:modified xsi:type="dcterms:W3CDTF">2022-12-24T23:21:51Z</dcterms:modified>
</cp:coreProperties>
</file>