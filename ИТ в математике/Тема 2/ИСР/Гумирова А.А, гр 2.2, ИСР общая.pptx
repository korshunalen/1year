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7" r:id="rId6"/>
    <p:sldId id="268" r:id="rId7"/>
    <p:sldId id="269" r:id="rId8"/>
    <p:sldId id="266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BCF06E3-337A-4709-9454-0467C8ABAF39}" type="datetimeFigureOut">
              <a:rPr lang="ru-RU" smtClean="0"/>
              <a:t>16.12.2022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A129F23-7261-4153-A451-176374093564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6124743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F06E3-337A-4709-9454-0467C8ABAF39}" type="datetimeFigureOut">
              <a:rPr lang="ru-RU" smtClean="0"/>
              <a:t>16.12.2022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29F23-7261-4153-A451-1763740935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3269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BCF06E3-337A-4709-9454-0467C8ABAF39}" type="datetimeFigureOut">
              <a:rPr lang="ru-RU" smtClean="0"/>
              <a:t>16.12.2022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A129F23-7261-4153-A451-176374093564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0256583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F06E3-337A-4709-9454-0467C8ABAF39}" type="datetimeFigureOut">
              <a:rPr lang="ru-RU" smtClean="0"/>
              <a:t>16.12.2022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29F23-7261-4153-A451-1763740935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6426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F06E3-337A-4709-9454-0467C8ABAF39}" type="datetimeFigureOut">
              <a:rPr lang="ru-RU" smtClean="0"/>
              <a:t>16.12.2022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29F23-7261-4153-A451-1763740935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4190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F06E3-337A-4709-9454-0467C8ABAF39}" type="datetimeFigureOut">
              <a:rPr lang="ru-RU" smtClean="0"/>
              <a:t>16.12.2022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29F23-7261-4153-A451-1763740935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012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F06E3-337A-4709-9454-0467C8ABAF39}" type="datetimeFigureOut">
              <a:rPr lang="ru-RU" smtClean="0"/>
              <a:t>16.12.2022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29F23-7261-4153-A451-1763740935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3903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BCF06E3-337A-4709-9454-0467C8ABAF39}" type="datetimeFigureOut">
              <a:rPr lang="ru-RU" smtClean="0"/>
              <a:t>16.12.2022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A129F23-7261-4153-A451-176374093564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49610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BCF06E3-337A-4709-9454-0467C8ABAF39}" type="datetimeFigureOut">
              <a:rPr lang="ru-RU" smtClean="0"/>
              <a:t>16.12.2022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A129F23-7261-4153-A451-176374093564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9223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F06E3-337A-4709-9454-0467C8ABAF39}" type="datetimeFigureOut">
              <a:rPr lang="ru-RU" smtClean="0"/>
              <a:t>16.12.2022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29F23-7261-4153-A451-1763740935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6170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F06E3-337A-4709-9454-0467C8ABAF39}" type="datetimeFigureOut">
              <a:rPr lang="ru-RU" smtClean="0"/>
              <a:t>16.12.2022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29F23-7261-4153-A451-1763740935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3354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ABCF06E3-337A-4709-9454-0467C8ABAF39}" type="datetimeFigureOut">
              <a:rPr lang="ru-RU" smtClean="0"/>
              <a:t>16.12.2022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4A129F23-7261-4153-A451-176374093564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0324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D69DEB-9BDF-E15F-9DEF-1FCE7EEBB8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800" b="0" i="0" dirty="0">
                <a:solidFill>
                  <a:srgbClr val="262633"/>
                </a:solidFill>
                <a:effectLst/>
                <a:latin typeface="YS Text"/>
              </a:rPr>
              <a:t>Этапы решения задач с матрицами средствами электронных таблиц.</a:t>
            </a:r>
            <a:endParaRPr lang="ru-RU" sz="4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8D80F3-D4BA-2526-DB12-00E6926734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86191" y="4544108"/>
            <a:ext cx="6831673" cy="1086237"/>
          </a:xfrm>
        </p:spPr>
        <p:txBody>
          <a:bodyPr/>
          <a:lstStyle/>
          <a:p>
            <a:r>
              <a:rPr lang="ru-RU" dirty="0"/>
              <a:t>Выполнил студент ИВТ 1 курса гр. 2.2. </a:t>
            </a:r>
            <a:r>
              <a:rPr lang="ru-RU" dirty="0" err="1"/>
              <a:t>Гумирова</a:t>
            </a:r>
            <a:r>
              <a:rPr lang="ru-RU" dirty="0"/>
              <a:t> А.А</a:t>
            </a:r>
          </a:p>
        </p:txBody>
      </p:sp>
    </p:spTree>
    <p:extLst>
      <p:ext uri="{BB962C8B-B14F-4D97-AF65-F5344CB8AC3E}">
        <p14:creationId xmlns:p14="http://schemas.microsoft.com/office/powerpoint/2010/main" val="2319287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493059-7972-6057-C203-B23D55918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685799"/>
            <a:ext cx="9748157" cy="898071"/>
          </a:xfrm>
        </p:spPr>
        <p:txBody>
          <a:bodyPr>
            <a:normAutofit/>
          </a:bodyPr>
          <a:lstStyle/>
          <a:p>
            <a:r>
              <a:rPr lang="ru-RU" sz="2400" dirty="0"/>
              <a:t>Для решения задач с матрицами воспользуемся </a:t>
            </a:r>
            <a:r>
              <a:rPr lang="en-US" sz="2400" dirty="0"/>
              <a:t>MS Excel 2019</a:t>
            </a:r>
            <a:br>
              <a:rPr lang="en-US" sz="2400" dirty="0"/>
            </a:br>
            <a:r>
              <a:rPr lang="ru-RU" sz="2400" dirty="0"/>
              <a:t>Ход работы:</a:t>
            </a:r>
            <a:r>
              <a:rPr lang="en-US" sz="2400" dirty="0"/>
              <a:t> 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F9A3A2-E367-DA4C-53C6-F4B3F7959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83870"/>
            <a:ext cx="9601200" cy="4283530"/>
          </a:xfrm>
        </p:spPr>
        <p:txBody>
          <a:bodyPr/>
          <a:lstStyle/>
          <a:p>
            <a:r>
              <a:rPr lang="ru-RU" dirty="0"/>
              <a:t>1 шаг:</a:t>
            </a:r>
          </a:p>
          <a:p>
            <a:pPr marL="0" indent="0">
              <a:buNone/>
            </a:pPr>
            <a:r>
              <a:rPr lang="ru-RU" dirty="0"/>
              <a:t>Для того, чтобы начать решать задачи с матрицами, нужно их задать. Для этого расположим матрицы в некотором диапазоне. Например, матрица А находится в диапазоне (</a:t>
            </a:r>
            <a:r>
              <a:rPr lang="en-US" dirty="0"/>
              <a:t>A3:D5), </a:t>
            </a:r>
            <a:r>
              <a:rPr lang="ru-RU" dirty="0"/>
              <a:t>а матрица </a:t>
            </a:r>
            <a:r>
              <a:rPr lang="en-US" dirty="0"/>
              <a:t>B (F3:I5)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F3CD21C-8962-0F42-A0F1-A8CE382FD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612" y="3429000"/>
            <a:ext cx="10686363" cy="2647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462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FDB90C3-0841-CABB-4FBD-F8642A412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484" y="0"/>
            <a:ext cx="9601200" cy="3581400"/>
          </a:xfrm>
        </p:spPr>
        <p:txBody>
          <a:bodyPr/>
          <a:lstStyle/>
          <a:p>
            <a:r>
              <a:rPr lang="ru-RU" dirty="0"/>
              <a:t>2 шаг: </a:t>
            </a:r>
            <a:r>
              <a:rPr lang="ru-RU" dirty="0">
                <a:solidFill>
                  <a:srgbClr val="C00000"/>
                </a:solidFill>
              </a:rPr>
              <a:t>Важно!</a:t>
            </a:r>
            <a:r>
              <a:rPr lang="ru-RU" dirty="0"/>
              <a:t>: Порядок выполнения произведения, суммы и разности точно такой же как и порядок выполнения арифметических действий :</a:t>
            </a:r>
          </a:p>
          <a:p>
            <a:pPr marL="0" indent="0">
              <a:buNone/>
            </a:pPr>
            <a:r>
              <a:rPr lang="ru-RU" dirty="0"/>
              <a:t>1. Выполняется произведение матрицы на число, матрицы на матрицу</a:t>
            </a:r>
          </a:p>
          <a:p>
            <a:pPr marL="0" indent="0">
              <a:buNone/>
            </a:pPr>
            <a:r>
              <a:rPr lang="ru-RU" dirty="0"/>
              <a:t>2. Выполняется сложение/ вычитание матриц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C7F6BE4-F686-89E0-75C5-EE6ACE330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484" y="1790701"/>
            <a:ext cx="7422972" cy="238801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4EF1185-3427-07CB-06E8-C2550C9DB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1454" y="4297458"/>
            <a:ext cx="7064352" cy="256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106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C7C0EEB-0F1E-0085-90E9-683C19522206}"/>
              </a:ext>
            </a:extLst>
          </p:cNvPr>
          <p:cNvSpPr txBox="1"/>
          <p:nvPr/>
        </p:nvSpPr>
        <p:spPr>
          <a:xfrm>
            <a:off x="1032388" y="1518120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Franklin Gothic Book" panose="020B0503020102020204" pitchFamily="34" charset="0"/>
              <a:buChar char="■"/>
            </a:pPr>
            <a:r>
              <a:rPr lang="ru-RU" dirty="0"/>
              <a:t>3 шаг:</a:t>
            </a:r>
          </a:p>
          <a:p>
            <a:pPr algn="l"/>
            <a:r>
              <a:rPr lang="ru-RU" dirty="0"/>
              <a:t>Чтобы найти произведение матрицы на число, в свободную ячейку вводим число, но которое хотим умножить. Затем в выбранную ячейку вводим выражение произведения числа </a:t>
            </a:r>
            <a:r>
              <a:rPr lang="en-US" dirty="0"/>
              <a:t>(</a:t>
            </a:r>
            <a:r>
              <a:rPr lang="ru-RU" dirty="0"/>
              <a:t>не забываем сделать абсолютную ссылку числа) на первый элемент матрицы и используем автозаполнение размером заданной матрицы.</a:t>
            </a:r>
            <a:endParaRPr lang="ru-RU" b="0" i="0" dirty="0">
              <a:effectLst/>
              <a:latin typeface="YS Text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D194DB9-B25E-E1FE-79AC-31D1D9B34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568" y="3429000"/>
            <a:ext cx="4700096" cy="223706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C3F0005-5755-8785-A679-F168F39D7C55}"/>
              </a:ext>
            </a:extLst>
          </p:cNvPr>
          <p:cNvSpPr txBox="1"/>
          <p:nvPr/>
        </p:nvSpPr>
        <p:spPr>
          <a:xfrm>
            <a:off x="1897626" y="35494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9718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349F57-1201-5457-E825-54EB6F135691}"/>
              </a:ext>
            </a:extLst>
          </p:cNvPr>
          <p:cNvSpPr txBox="1"/>
          <p:nvPr/>
        </p:nvSpPr>
        <p:spPr>
          <a:xfrm>
            <a:off x="857644" y="298306"/>
            <a:ext cx="1090397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Franklin Gothic Book" panose="020B0503020102020204" pitchFamily="34" charset="0"/>
              <a:buChar char="■"/>
            </a:pPr>
            <a:r>
              <a:rPr lang="ru-RU" dirty="0"/>
              <a:t>4 шаг:</a:t>
            </a:r>
          </a:p>
          <a:p>
            <a:pPr algn="l"/>
            <a:r>
              <a:rPr lang="ru-RU" dirty="0"/>
              <a:t>Чтобы найти произведение заданных матриц, нужно:</a:t>
            </a:r>
          </a:p>
          <a:p>
            <a:pPr algn="l"/>
            <a:r>
              <a:rPr lang="ru-RU" dirty="0">
                <a:latin typeface="YS Text"/>
              </a:rPr>
              <a:t>1. П</a:t>
            </a:r>
            <a:r>
              <a:rPr lang="ru-RU" b="0" i="0" dirty="0">
                <a:effectLst/>
                <a:latin typeface="YS Text"/>
              </a:rPr>
              <a:t>роанализировать размеры матриц: количество столбцов матрицы должно равняться</a:t>
            </a:r>
          </a:p>
          <a:p>
            <a:pPr algn="l"/>
            <a:r>
              <a:rPr lang="ru-RU" b="0" i="0" dirty="0">
                <a:effectLst/>
                <a:latin typeface="YS Text"/>
              </a:rPr>
              <a:t>количеству строк матрицы</a:t>
            </a:r>
          </a:p>
          <a:p>
            <a:pPr algn="l"/>
            <a:r>
              <a:rPr lang="ru-RU" dirty="0">
                <a:latin typeface="YS Text"/>
              </a:rPr>
              <a:t>2. </a:t>
            </a:r>
            <a:r>
              <a:rPr lang="ru-RU" b="0" i="0" dirty="0">
                <a:effectLst/>
                <a:latin typeface="YS Text"/>
              </a:rPr>
              <a:t>Проанализировать размер итоговой матрицы </a:t>
            </a:r>
          </a:p>
          <a:p>
            <a:pPr algn="l"/>
            <a:r>
              <a:rPr lang="ru-RU" dirty="0">
                <a:latin typeface="YS Text"/>
              </a:rPr>
              <a:t>3.</a:t>
            </a:r>
            <a:r>
              <a:rPr lang="ru-RU" b="0" i="0" dirty="0">
                <a:effectLst/>
                <a:latin typeface="YS Text"/>
              </a:rPr>
              <a:t> Выделить диапазон ячеек, соответствующий размеру итоговой матрицы. </a:t>
            </a:r>
          </a:p>
          <a:p>
            <a:pPr algn="l"/>
            <a:r>
              <a:rPr lang="ru-RU" dirty="0">
                <a:latin typeface="YS Text"/>
              </a:rPr>
              <a:t>4.</a:t>
            </a:r>
            <a:r>
              <a:rPr lang="ru-RU" b="0" i="0" dirty="0">
                <a:effectLst/>
                <a:latin typeface="YS Text"/>
              </a:rPr>
              <a:t> Открыть мастер функций (кнопка, расположенная слева от строки формул).</a:t>
            </a:r>
          </a:p>
          <a:p>
            <a:pPr algn="l"/>
            <a:r>
              <a:rPr lang="ru-RU" dirty="0">
                <a:latin typeface="YS Text"/>
              </a:rPr>
              <a:t>5.</a:t>
            </a:r>
            <a:r>
              <a:rPr lang="ru-RU" b="0" i="0" dirty="0">
                <a:effectLst/>
                <a:latin typeface="YS Text"/>
              </a:rPr>
              <a:t> В открывшемся диалоговом окне выбрать категорию «Математические», а затем выбрать функцию</a:t>
            </a:r>
          </a:p>
          <a:p>
            <a:pPr algn="l"/>
            <a:r>
              <a:rPr lang="ru-RU" b="0" i="0" dirty="0">
                <a:effectLst/>
                <a:latin typeface="YS Text"/>
              </a:rPr>
              <a:t>«МУМНОЖ». Нажать кнопку «ОК».</a:t>
            </a:r>
          </a:p>
          <a:p>
            <a:pPr algn="l"/>
            <a:r>
              <a:rPr lang="ru-RU" dirty="0">
                <a:latin typeface="YS Text"/>
              </a:rPr>
              <a:t>6. </a:t>
            </a:r>
            <a:r>
              <a:rPr lang="ru-RU" b="0" i="0" dirty="0">
                <a:effectLst/>
                <a:latin typeface="YS Text"/>
              </a:rPr>
              <a:t>В новом диалоговом окне: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YS Text"/>
              </a:rPr>
              <a:t>Проверить, что курсор стоит в поле «Массив 1». И выделить диапазон ячеек первой матрицы.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YS Text"/>
              </a:rPr>
              <a:t>Щелкнуть в поле «Массив 2», выделить диапазон ячеек второй матрицы. Нажать кнопку «ОК».</a:t>
            </a:r>
          </a:p>
          <a:p>
            <a:pPr algn="l"/>
            <a:r>
              <a:rPr lang="ru-RU" b="0" i="0" dirty="0">
                <a:solidFill>
                  <a:srgbClr val="C00000"/>
                </a:solidFill>
                <a:effectLst/>
                <a:latin typeface="YS Text"/>
              </a:rPr>
              <a:t>Важно!: Порядок матриц определяется порядком произведения. Матрицы менять местами в массивах нельзя.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262633"/>
                </a:solidFill>
                <a:effectLst/>
                <a:latin typeface="YS Text"/>
              </a:rPr>
              <a:t>7.Затем НЕ снимая выделения с ячеек, щёлкнуть в строку формул: установить курсор после закрывающей скобки.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262633"/>
                </a:solidFill>
                <a:effectLst/>
                <a:latin typeface="YS Text"/>
              </a:rPr>
              <a:t>Нажать на клавиатуре сочетание клавиш: Ctrl + Shift + Enter.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262633"/>
                </a:solidFill>
                <a:effectLst/>
                <a:latin typeface="YS Text"/>
              </a:rPr>
              <a:t>8.В строке формул появятся фигурные скобки.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262633"/>
                </a:solidFill>
                <a:effectLst/>
                <a:latin typeface="YS Text"/>
              </a:rPr>
              <a:t>9.В заданном  диапазоне будет найдено произведение матриц.</a:t>
            </a:r>
          </a:p>
          <a:p>
            <a:endParaRPr lang="ru-RU" i="1" dirty="0">
              <a:solidFill>
                <a:srgbClr val="262633"/>
              </a:solidFill>
              <a:latin typeface="YS Text"/>
            </a:endParaRPr>
          </a:p>
          <a:p>
            <a:r>
              <a:rPr lang="ru-RU" i="1" dirty="0">
                <a:solidFill>
                  <a:srgbClr val="262633"/>
                </a:solidFill>
                <a:latin typeface="YS Text"/>
              </a:rPr>
              <a:t>На следующем слайде визуально представлено, как данный процесс проходит в </a:t>
            </a:r>
            <a:r>
              <a:rPr lang="en-US" i="1" dirty="0">
                <a:solidFill>
                  <a:srgbClr val="262633"/>
                </a:solidFill>
                <a:latin typeface="YS Text"/>
              </a:rPr>
              <a:t>Excel</a:t>
            </a:r>
            <a:endParaRPr lang="ru-RU" b="0" i="1" dirty="0">
              <a:solidFill>
                <a:srgbClr val="262633"/>
              </a:solidFill>
              <a:effectLst/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1381862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9BDB1F5-9091-7039-1EE2-D936B3BFC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932" y="376257"/>
            <a:ext cx="5303980" cy="166130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D8589AD-02AA-D1AD-EF2D-A233BD079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082" y="348831"/>
            <a:ext cx="2993557" cy="166130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DED37A9-ABDB-C492-10C3-CABDB77ADD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723" y="2836213"/>
            <a:ext cx="3538267" cy="188327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0B8F2A-9519-378A-9009-043ACF8564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260" y="5352859"/>
            <a:ext cx="4235284" cy="83193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26D4C5F-D4F7-BDC3-2D02-08D26D784F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7912" y="2836213"/>
            <a:ext cx="4615828" cy="346369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39C1ED3-51EC-0406-5E1B-9B592F552542}"/>
              </a:ext>
            </a:extLst>
          </p:cNvPr>
          <p:cNvSpPr txBox="1"/>
          <p:nvPr/>
        </p:nvSpPr>
        <p:spPr>
          <a:xfrm>
            <a:off x="738351" y="216310"/>
            <a:ext cx="561296" cy="37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849FE4-C457-B006-87F9-38390621ADD3}"/>
              </a:ext>
            </a:extLst>
          </p:cNvPr>
          <p:cNvSpPr txBox="1"/>
          <p:nvPr/>
        </p:nvSpPr>
        <p:spPr>
          <a:xfrm>
            <a:off x="7301383" y="216310"/>
            <a:ext cx="561296" cy="37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2AE8ED-2E54-DED5-900C-C35561E18ABC}"/>
              </a:ext>
            </a:extLst>
          </p:cNvPr>
          <p:cNvSpPr txBox="1"/>
          <p:nvPr/>
        </p:nvSpPr>
        <p:spPr>
          <a:xfrm>
            <a:off x="1174536" y="2679032"/>
            <a:ext cx="561296" cy="37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3.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24593E-5C4C-CE45-797C-46540F554A9E}"/>
              </a:ext>
            </a:extLst>
          </p:cNvPr>
          <p:cNvSpPr txBox="1"/>
          <p:nvPr/>
        </p:nvSpPr>
        <p:spPr>
          <a:xfrm>
            <a:off x="823284" y="5174142"/>
            <a:ext cx="561296" cy="37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4.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DA79B9-E7E0-736C-E12A-2ECCFD14EFEB}"/>
              </a:ext>
            </a:extLst>
          </p:cNvPr>
          <p:cNvSpPr txBox="1"/>
          <p:nvPr/>
        </p:nvSpPr>
        <p:spPr>
          <a:xfrm>
            <a:off x="6096000" y="2681663"/>
            <a:ext cx="561296" cy="37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5.</a:t>
            </a:r>
          </a:p>
        </p:txBody>
      </p:sp>
    </p:spTree>
    <p:extLst>
      <p:ext uri="{BB962C8B-B14F-4D97-AF65-F5344CB8AC3E}">
        <p14:creationId xmlns:p14="http://schemas.microsoft.com/office/powerpoint/2010/main" val="4175495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9EB4042-E774-C22C-679C-316ED947C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873" y="3376902"/>
            <a:ext cx="5204911" cy="324640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95F6407-2E60-B333-116D-892CC4603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193" y="5000103"/>
            <a:ext cx="3734124" cy="42675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EE22236-A917-49C9-6FB9-D4FCC6F459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1055" y="3932122"/>
            <a:ext cx="3711262" cy="48010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8D9F61B-08AF-6E49-A9D4-1E46C20026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8193" y="151234"/>
            <a:ext cx="6797629" cy="29415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3A1EDD-7FE2-623B-0118-EA6D0E2ED0B1}"/>
              </a:ext>
            </a:extLst>
          </p:cNvPr>
          <p:cNvSpPr txBox="1"/>
          <p:nvPr/>
        </p:nvSpPr>
        <p:spPr>
          <a:xfrm>
            <a:off x="915332" y="151234"/>
            <a:ext cx="561296" cy="37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6.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77027E-1DE5-E87B-627C-3CEF310B36E1}"/>
              </a:ext>
            </a:extLst>
          </p:cNvPr>
          <p:cNvSpPr txBox="1"/>
          <p:nvPr/>
        </p:nvSpPr>
        <p:spPr>
          <a:xfrm>
            <a:off x="915332" y="3745309"/>
            <a:ext cx="561296" cy="37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7.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1DB492-A5EB-3104-603E-A9962E89593B}"/>
              </a:ext>
            </a:extLst>
          </p:cNvPr>
          <p:cNvSpPr txBox="1"/>
          <p:nvPr/>
        </p:nvSpPr>
        <p:spPr>
          <a:xfrm>
            <a:off x="915332" y="4813289"/>
            <a:ext cx="561296" cy="37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8.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52E6F4-E053-A098-953E-1F7004F70B63}"/>
              </a:ext>
            </a:extLst>
          </p:cNvPr>
          <p:cNvSpPr txBox="1"/>
          <p:nvPr/>
        </p:nvSpPr>
        <p:spPr>
          <a:xfrm>
            <a:off x="6096000" y="3376902"/>
            <a:ext cx="561296" cy="37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9.</a:t>
            </a:r>
          </a:p>
        </p:txBody>
      </p:sp>
    </p:spTree>
    <p:extLst>
      <p:ext uri="{BB962C8B-B14F-4D97-AF65-F5344CB8AC3E}">
        <p14:creationId xmlns:p14="http://schemas.microsoft.com/office/powerpoint/2010/main" val="2708776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>
            <a:extLst>
              <a:ext uri="{FF2B5EF4-FFF2-40B4-BE49-F238E27FC236}">
                <a16:creationId xmlns:a16="http://schemas.microsoft.com/office/drawing/2014/main" id="{C4FE5F92-D8D9-B559-3FAB-25426689C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651" y="272845"/>
            <a:ext cx="5520814" cy="2366782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5</a:t>
            </a:r>
            <a:r>
              <a:rPr lang="en-US" dirty="0"/>
              <a:t> </a:t>
            </a:r>
            <a:r>
              <a:rPr lang="ru-RU" dirty="0"/>
              <a:t>шаг:</a:t>
            </a:r>
          </a:p>
          <a:p>
            <a:pPr marL="0" indent="0" algn="l">
              <a:buNone/>
            </a:pPr>
            <a:r>
              <a:rPr lang="ru-RU" dirty="0"/>
              <a:t>Чтобы найти сумму</a:t>
            </a:r>
            <a:r>
              <a:rPr lang="en-US" dirty="0"/>
              <a:t>/</a:t>
            </a:r>
            <a:r>
              <a:rPr lang="ru-RU" dirty="0"/>
              <a:t>разность матриц, задаем выражение суммы/разности первого элемента некоторой матрицы на первый элемент др. матрицы в некоторой ячейке и выбираем нужный диапазон</a:t>
            </a:r>
            <a:r>
              <a:rPr lang="en-US" dirty="0"/>
              <a:t> </a:t>
            </a:r>
            <a:r>
              <a:rPr lang="ru-RU" dirty="0"/>
              <a:t>автозаполнения,</a:t>
            </a:r>
            <a:r>
              <a:rPr lang="en-US" dirty="0"/>
              <a:t> </a:t>
            </a:r>
            <a:r>
              <a:rPr lang="ru-RU" dirty="0"/>
              <a:t>соответствующий размеру. </a:t>
            </a:r>
            <a:r>
              <a:rPr lang="ru-RU" dirty="0">
                <a:solidFill>
                  <a:srgbClr val="C00000"/>
                </a:solidFill>
              </a:rPr>
              <a:t>Важно!: размеры заданных матриц должны совпадать. 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31E765-944D-9FF6-12D4-D1D3217DC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229" y="3848374"/>
            <a:ext cx="4988893" cy="26581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1F60B8-6DD5-1CA8-E301-B50C45327DC7}"/>
              </a:ext>
            </a:extLst>
          </p:cNvPr>
          <p:cNvSpPr txBox="1"/>
          <p:nvPr/>
        </p:nvSpPr>
        <p:spPr>
          <a:xfrm>
            <a:off x="5830530" y="2330803"/>
            <a:ext cx="57420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ru-RU" dirty="0"/>
              <a:t>Например,  в ячейке А9 зададим выражение =А3+</a:t>
            </a:r>
            <a:r>
              <a:rPr lang="en-US" dirty="0"/>
              <a:t>B3.</a:t>
            </a:r>
            <a:r>
              <a:rPr lang="ru-RU" dirty="0"/>
              <a:t> </a:t>
            </a:r>
            <a:r>
              <a:rPr lang="ru-RU" b="0" i="0" dirty="0">
                <a:effectLst/>
                <a:latin typeface="YS Text"/>
              </a:rPr>
              <a:t>Автозаполнением протянуть введённую формулу вниз до ячейки А11, а затем вправо до столбца </a:t>
            </a:r>
            <a:r>
              <a:rPr lang="en-US" b="0" i="0" dirty="0">
                <a:effectLst/>
                <a:latin typeface="YS Text"/>
              </a:rPr>
              <a:t>D</a:t>
            </a:r>
            <a:r>
              <a:rPr lang="ru-RU" b="0" i="0" dirty="0">
                <a:effectLst/>
                <a:latin typeface="YS Text"/>
              </a:rPr>
              <a:t>.</a:t>
            </a:r>
            <a:endParaRPr lang="ru-RU" dirty="0">
              <a:latin typeface="YS Text"/>
            </a:endParaRPr>
          </a:p>
          <a:p>
            <a:pPr marL="0" indent="0" algn="l">
              <a:buNone/>
            </a:pPr>
            <a:r>
              <a:rPr lang="ru-RU" b="0" i="0" dirty="0">
                <a:effectLst/>
                <a:latin typeface="YS Text"/>
              </a:rPr>
              <a:t>В диапазоне А9:D11 будет найдена сумма матриц.</a:t>
            </a:r>
          </a:p>
        </p:txBody>
      </p:sp>
    </p:spTree>
    <p:extLst>
      <p:ext uri="{BB962C8B-B14F-4D97-AF65-F5344CB8AC3E}">
        <p14:creationId xmlns:p14="http://schemas.microsoft.com/office/powerpoint/2010/main" val="683802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2DFC217-4877-C795-93F7-2586EE166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315" y="442453"/>
            <a:ext cx="10761408" cy="5476566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Если для решения нужна единичная матрица, то ее тоже нужно задать: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262633"/>
                </a:solidFill>
                <a:effectLst/>
                <a:latin typeface="YS Text"/>
              </a:rPr>
              <a:t>1. Выделить диапазон ячеек, соответствующий размеру итоговой матрицы. </a:t>
            </a:r>
            <a:endParaRPr lang="ru-RU" dirty="0">
              <a:solidFill>
                <a:srgbClr val="262633"/>
              </a:solidFill>
              <a:latin typeface="YS Text"/>
            </a:endParaRPr>
          </a:p>
          <a:p>
            <a:pPr marL="0" indent="0" algn="l">
              <a:buNone/>
            </a:pPr>
            <a:r>
              <a:rPr lang="ru-RU" b="0" i="0" dirty="0">
                <a:solidFill>
                  <a:srgbClr val="262633"/>
                </a:solidFill>
                <a:effectLst/>
                <a:latin typeface="YS Text"/>
              </a:rPr>
              <a:t>2. Открыть мастер функций (кнопка, расположенная слева от строки формул).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262633"/>
                </a:solidFill>
                <a:effectLst/>
                <a:latin typeface="YS Text"/>
              </a:rPr>
              <a:t>3. В открывшемся диалоговом окне выбрать категорию «Математические», а затем выбрать функцию «МЕДИН». Нажать кнопку «ОК».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262633"/>
                </a:solidFill>
                <a:effectLst/>
                <a:latin typeface="YS Text"/>
              </a:rPr>
              <a:t>4.В новом диалоговом окне: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62633"/>
                </a:solidFill>
                <a:effectLst/>
                <a:latin typeface="YS Text"/>
              </a:rPr>
              <a:t>Проверить, что курсор стоит в поле «Размер». И ввести число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62633"/>
                </a:solidFill>
                <a:effectLst/>
                <a:latin typeface="YS Text"/>
              </a:rPr>
              <a:t>Нажать кнопку «ОК»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262633"/>
                </a:solidFill>
                <a:effectLst/>
                <a:latin typeface="YS Text"/>
              </a:rPr>
              <a:t>5. Затем НЕ снимая выделения с ячеек, щёлкнуть в строку формул: установить курсор после закрывающей скобки.</a:t>
            </a:r>
          </a:p>
          <a:p>
            <a:pPr marL="0" indent="0" algn="l">
              <a:buNone/>
            </a:pPr>
            <a:r>
              <a:rPr lang="ru-RU" dirty="0">
                <a:solidFill>
                  <a:srgbClr val="262633"/>
                </a:solidFill>
                <a:latin typeface="YS Text"/>
              </a:rPr>
              <a:t>6.</a:t>
            </a:r>
            <a:r>
              <a:rPr lang="ru-RU" b="0" i="0" dirty="0">
                <a:solidFill>
                  <a:srgbClr val="262633"/>
                </a:solidFill>
                <a:effectLst/>
                <a:latin typeface="YS Text"/>
              </a:rPr>
              <a:t>Нажать на клавиатуре сочетание клавиш: Ctrl + Shift + Enter.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262633"/>
                </a:solidFill>
                <a:effectLst/>
                <a:latin typeface="YS Text"/>
              </a:rPr>
              <a:t>7.В строке формул появятся фигурные скобки.</a:t>
            </a:r>
          </a:p>
          <a:p>
            <a:pPr marL="0" indent="0" algn="l">
              <a:buNone/>
            </a:pPr>
            <a:endParaRPr lang="ru-RU" i="1" dirty="0">
              <a:solidFill>
                <a:srgbClr val="262633"/>
              </a:solidFill>
              <a:latin typeface="YS Text"/>
            </a:endParaRPr>
          </a:p>
          <a:p>
            <a:pPr marL="0" indent="0" algn="l">
              <a:buNone/>
            </a:pPr>
            <a:r>
              <a:rPr lang="ru-RU" i="1" dirty="0">
                <a:solidFill>
                  <a:srgbClr val="262633"/>
                </a:solidFill>
                <a:latin typeface="YS Text"/>
              </a:rPr>
              <a:t>На следующем слайде визуально представлено, как данный процесс проходит в </a:t>
            </a:r>
            <a:r>
              <a:rPr lang="en-US" i="1" dirty="0">
                <a:solidFill>
                  <a:srgbClr val="262633"/>
                </a:solidFill>
                <a:latin typeface="YS Text"/>
              </a:rPr>
              <a:t>Excel</a:t>
            </a:r>
            <a:endParaRPr lang="ru-RU" b="0" i="1" dirty="0">
              <a:solidFill>
                <a:srgbClr val="262633"/>
              </a:solidFill>
              <a:effectLst/>
              <a:latin typeface="YS Text"/>
            </a:endParaRPr>
          </a:p>
          <a:p>
            <a:pPr marL="0" indent="0" algn="l">
              <a:buNone/>
            </a:pPr>
            <a:endParaRPr lang="ru-RU" b="0" i="1" dirty="0">
              <a:solidFill>
                <a:srgbClr val="262633"/>
              </a:solidFill>
              <a:effectLst/>
              <a:latin typeface="YS Text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469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FBB6DC4-09C2-D507-1545-60516D0E8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337" y="259464"/>
            <a:ext cx="4227891" cy="18240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B6DE13E-48AB-7BF3-465D-7EC39357B2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452" b="6205"/>
          <a:stretch/>
        </p:blipFill>
        <p:spPr>
          <a:xfrm>
            <a:off x="6686148" y="163193"/>
            <a:ext cx="3951128" cy="201656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D4C8E58-7DA2-D8C2-DB73-34B5836245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045" y="2737041"/>
            <a:ext cx="4108869" cy="314170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BE57A06-96D8-FBE5-B26B-34B5B6C637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2469" y="2737041"/>
            <a:ext cx="4838486" cy="182360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2DB540F-F595-C241-5C80-0228FE314C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3740" y="5123704"/>
            <a:ext cx="2769578" cy="156714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6560E5A-657D-A766-82BD-766DC48D51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0913" y="5146378"/>
            <a:ext cx="2963555" cy="156714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C815F39-C17B-2DD5-CC2F-E7F3EBD73B6B}"/>
              </a:ext>
            </a:extLst>
          </p:cNvPr>
          <p:cNvSpPr txBox="1"/>
          <p:nvPr/>
        </p:nvSpPr>
        <p:spPr>
          <a:xfrm>
            <a:off x="999145" y="167148"/>
            <a:ext cx="544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F3812C-746C-543D-22BC-1882E532B116}"/>
              </a:ext>
            </a:extLst>
          </p:cNvPr>
          <p:cNvSpPr txBox="1"/>
          <p:nvPr/>
        </p:nvSpPr>
        <p:spPr>
          <a:xfrm>
            <a:off x="6305514" y="167148"/>
            <a:ext cx="544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8782C7-B5B7-5EE5-FF0F-0ECAC8595E3C}"/>
              </a:ext>
            </a:extLst>
          </p:cNvPr>
          <p:cNvSpPr txBox="1"/>
          <p:nvPr/>
        </p:nvSpPr>
        <p:spPr>
          <a:xfrm>
            <a:off x="726885" y="2552375"/>
            <a:ext cx="544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3.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C19FF0-B3C5-FFFE-54F6-0003AD0F83F9}"/>
              </a:ext>
            </a:extLst>
          </p:cNvPr>
          <p:cNvSpPr txBox="1"/>
          <p:nvPr/>
        </p:nvSpPr>
        <p:spPr>
          <a:xfrm>
            <a:off x="5823740" y="2552375"/>
            <a:ext cx="544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4.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5DD86F-E19E-7840-666D-28CEDE1A256D}"/>
              </a:ext>
            </a:extLst>
          </p:cNvPr>
          <p:cNvSpPr txBox="1"/>
          <p:nvPr/>
        </p:nvSpPr>
        <p:spPr>
          <a:xfrm>
            <a:off x="5780659" y="4745314"/>
            <a:ext cx="544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65D4B9-EDA2-ED4F-2F51-7936B8653FEB}"/>
              </a:ext>
            </a:extLst>
          </p:cNvPr>
          <p:cNvSpPr txBox="1"/>
          <p:nvPr/>
        </p:nvSpPr>
        <p:spPr>
          <a:xfrm>
            <a:off x="8990913" y="4777046"/>
            <a:ext cx="1165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6. И 7.</a:t>
            </a:r>
          </a:p>
        </p:txBody>
      </p:sp>
    </p:spTree>
    <p:extLst>
      <p:ext uri="{BB962C8B-B14F-4D97-AF65-F5344CB8AC3E}">
        <p14:creationId xmlns:p14="http://schemas.microsoft.com/office/powerpoint/2010/main" val="1677982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9F0900A-D544-CCB5-D628-54934D3430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6077" y="363793"/>
                <a:ext cx="10648336" cy="628281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ru-RU" dirty="0"/>
                  <a:t>Если для решения задач нужна транспонированная матрица, то ее тоже нужно задать:</a:t>
                </a: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chemeClr val="tx1"/>
                    </a:solidFill>
                    <a:effectLst/>
                    <a:latin typeface="YS Text"/>
                  </a:rPr>
                  <a:t>1. Проанализировать размеры матрицы.</a:t>
                </a: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chemeClr val="tx1"/>
                    </a:solidFill>
                    <a:effectLst/>
                    <a:latin typeface="YS Text"/>
                  </a:rPr>
                  <a:t>2. Проанализировать размер итоговой матрицы С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b="0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А</m:t>
                        </m:r>
                      </m:e>
                      <m:sup>
                        <m:r>
                          <a:rPr lang="ru-RU" b="0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Т</m:t>
                        </m:r>
                      </m:sup>
                    </m:sSup>
                  </m:oMath>
                </a14:m>
                <a:endParaRPr lang="ru-RU" b="0" i="0" dirty="0">
                  <a:solidFill>
                    <a:schemeClr val="tx1"/>
                  </a:solidFill>
                  <a:effectLst/>
                  <a:latin typeface="YS Text"/>
                </a:endParaRP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chemeClr val="tx1"/>
                    </a:solidFill>
                    <a:effectLst/>
                    <a:latin typeface="YS Text"/>
                  </a:rPr>
                  <a:t>3. Выделить диапазон ячеек, соответствующий размеру итоговой матрицы</a:t>
                </a: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chemeClr val="tx1"/>
                    </a:solidFill>
                    <a:effectLst/>
                    <a:latin typeface="YS Text"/>
                  </a:rPr>
                  <a:t>4. Открыть мастер функций (кнопка, расположенная слева от строки формул).</a:t>
                </a:r>
              </a:p>
              <a:p>
                <a:pPr marL="0" indent="0" algn="l">
                  <a:buNone/>
                </a:pPr>
                <a:r>
                  <a:rPr lang="ru-RU" dirty="0">
                    <a:solidFill>
                      <a:schemeClr val="tx1"/>
                    </a:solidFill>
                    <a:latin typeface="YS Text"/>
                  </a:rPr>
                  <a:t>5. </a:t>
                </a:r>
                <a:r>
                  <a:rPr lang="ru-RU" b="0" i="0" dirty="0">
                    <a:solidFill>
                      <a:schemeClr val="tx1"/>
                    </a:solidFill>
                    <a:effectLst/>
                    <a:latin typeface="YS Text"/>
                  </a:rPr>
                  <a:t>В открывшемся диалоговом окне выбрать категорию «Ссылки и массивы», а затем выбрать функцию «ТРАНСП». Нажать кнопку «ОК».</a:t>
                </a: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chemeClr val="tx1"/>
                    </a:solidFill>
                    <a:effectLst/>
                    <a:latin typeface="YS Text"/>
                  </a:rPr>
                  <a:t>6. В новом диалоговом окне:</a:t>
                </a:r>
                <a:endParaRPr lang="ru-RU" dirty="0">
                  <a:solidFill>
                    <a:schemeClr val="tx1"/>
                  </a:solidFill>
                  <a:latin typeface="YS Text"/>
                </a:endParaRP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chemeClr val="tx1"/>
                    </a:solidFill>
                    <a:effectLst/>
                    <a:latin typeface="YS Text"/>
                  </a:rPr>
                  <a:t>Проверить, что курсор стоит в поле «Массив». И выделить диапазон ячеек. Нажать кнопку «ОК»</a:t>
                </a: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chemeClr val="tx1"/>
                    </a:solidFill>
                    <a:effectLst/>
                    <a:latin typeface="YS Text"/>
                  </a:rPr>
                  <a:t>7. Затем НЕ снимая выделения с ячеек, щёлкнуть в строку формул: 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ru-RU" b="0" i="0" dirty="0">
                    <a:solidFill>
                      <a:schemeClr val="tx1"/>
                    </a:solidFill>
                    <a:effectLst/>
                    <a:latin typeface="YS Text"/>
                  </a:rPr>
                  <a:t>установить курсор после закрывающей скобки.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ru-RU" b="0" i="0" dirty="0">
                    <a:solidFill>
                      <a:schemeClr val="tx1"/>
                    </a:solidFill>
                    <a:effectLst/>
                    <a:latin typeface="YS Text"/>
                  </a:rPr>
                  <a:t>Нажать на клавиатуре сочетание клавиш: Ctrl + Shift + Enter.</a:t>
                </a:r>
              </a:p>
              <a:p>
                <a:pPr marL="0" indent="0" algn="l">
                  <a:buNone/>
                </a:pPr>
                <a:r>
                  <a:rPr lang="ru-RU" dirty="0">
                    <a:solidFill>
                      <a:schemeClr val="tx1"/>
                    </a:solidFill>
                    <a:latin typeface="YS Text"/>
                  </a:rPr>
                  <a:t>8. </a:t>
                </a:r>
                <a:r>
                  <a:rPr lang="ru-RU" b="0" i="0" dirty="0">
                    <a:solidFill>
                      <a:schemeClr val="tx1"/>
                    </a:solidFill>
                    <a:effectLst/>
                    <a:latin typeface="YS Text"/>
                  </a:rPr>
                  <a:t>В строке формул появятся фигурные скобки.</a:t>
                </a:r>
              </a:p>
              <a:p>
                <a:pPr marL="0" indent="0" algn="l">
                  <a:buNone/>
                </a:pPr>
                <a:r>
                  <a:rPr lang="ru-RU" b="0" i="0" dirty="0">
                    <a:solidFill>
                      <a:schemeClr val="tx1"/>
                    </a:solidFill>
                    <a:effectLst/>
                    <a:latin typeface="YS Text"/>
                  </a:rPr>
                  <a:t>9. В заданном диапазоне будет найдена транспонированная матрица.</a:t>
                </a:r>
                <a:endParaRPr lang="ru-RU" b="0" i="0" dirty="0">
                  <a:solidFill>
                    <a:srgbClr val="262633"/>
                  </a:solidFill>
                  <a:effectLst/>
                  <a:latin typeface="YS Text"/>
                </a:endParaRPr>
              </a:p>
              <a:p>
                <a:pPr marL="0" indent="0">
                  <a:buNone/>
                </a:pPr>
                <a:endParaRPr lang="en-US" i="1" dirty="0">
                  <a:solidFill>
                    <a:srgbClr val="262633"/>
                  </a:solidFill>
                  <a:latin typeface="YS Text"/>
                </a:endParaRPr>
              </a:p>
              <a:p>
                <a:pPr marL="0" indent="0">
                  <a:buNone/>
                </a:pPr>
                <a:r>
                  <a:rPr lang="ru-RU" i="1" dirty="0">
                    <a:solidFill>
                      <a:srgbClr val="262633"/>
                    </a:solidFill>
                    <a:latin typeface="YS Text"/>
                  </a:rPr>
                  <a:t>На следующем слайде визуально представлено, как данный процесс проходит в </a:t>
                </a:r>
                <a:r>
                  <a:rPr lang="en-US" i="1" dirty="0">
                    <a:solidFill>
                      <a:srgbClr val="262633"/>
                    </a:solidFill>
                    <a:latin typeface="YS Text"/>
                  </a:rPr>
                  <a:t>Excel</a:t>
                </a:r>
                <a:endParaRPr lang="ru-RU" b="0" i="0" dirty="0">
                  <a:solidFill>
                    <a:srgbClr val="262633"/>
                  </a:solidFill>
                  <a:effectLst/>
                  <a:latin typeface="YS Text"/>
                </a:endParaRP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9F0900A-D544-CCB5-D628-54934D3430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6077" y="363793"/>
                <a:ext cx="10648336" cy="6282813"/>
              </a:xfrm>
              <a:blipFill>
                <a:blip r:embed="rId2"/>
                <a:stretch>
                  <a:fillRect l="-572" t="-126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1928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BB22F16-D275-ECBE-404E-2D65C23D0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27" y="242608"/>
            <a:ext cx="2834886" cy="126503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AA646B-BB34-8BAE-5612-4F1988F56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545" y="125488"/>
            <a:ext cx="1775614" cy="169940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E9D7925-7CC0-27E2-F0C8-5AA1937282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591" y="125488"/>
            <a:ext cx="1715592" cy="169940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B3D5490-F440-4193-34B4-4C2FA6C0FF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0030" y="716088"/>
            <a:ext cx="3292125" cy="51820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60E4C1B-91F0-D444-B2A4-BF7D72EB68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1234" y="2354321"/>
            <a:ext cx="4854361" cy="367315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F0C6827-4A31-030E-BE63-DD881505BC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227" y="2288492"/>
            <a:ext cx="5226976" cy="183616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CDB1F2B-1B6D-43A4-24C2-54F261B197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0315" y="4588249"/>
            <a:ext cx="3254022" cy="365792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3D2A2B41-D193-C535-97D5-543C9703E3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0315" y="5250720"/>
            <a:ext cx="2072820" cy="320068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FF5B1A04-D110-2012-DE40-1ED0FDF1BD7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99064" y="5250720"/>
            <a:ext cx="1417443" cy="146316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3D51323-D309-0F9A-5E1A-73E759F08725}"/>
              </a:ext>
            </a:extLst>
          </p:cNvPr>
          <p:cNvSpPr txBox="1"/>
          <p:nvPr/>
        </p:nvSpPr>
        <p:spPr>
          <a:xfrm>
            <a:off x="715795" y="125488"/>
            <a:ext cx="544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007721-8B17-8B89-68EA-DA0CAEA5AD3E}"/>
              </a:ext>
            </a:extLst>
          </p:cNvPr>
          <p:cNvSpPr txBox="1"/>
          <p:nvPr/>
        </p:nvSpPr>
        <p:spPr>
          <a:xfrm>
            <a:off x="3969817" y="101345"/>
            <a:ext cx="544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r>
              <a:rPr lang="ru-RU" dirty="0"/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09C50E-C42F-83FF-F8B2-D28CF46952F5}"/>
              </a:ext>
            </a:extLst>
          </p:cNvPr>
          <p:cNvSpPr txBox="1"/>
          <p:nvPr/>
        </p:nvSpPr>
        <p:spPr>
          <a:xfrm>
            <a:off x="6272627" y="77202"/>
            <a:ext cx="544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  <a:r>
              <a:rPr lang="ru-RU" dirty="0"/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3C4D50-C512-80DE-1FE3-450F93B5F8AB}"/>
              </a:ext>
            </a:extLst>
          </p:cNvPr>
          <p:cNvSpPr txBox="1"/>
          <p:nvPr/>
        </p:nvSpPr>
        <p:spPr>
          <a:xfrm>
            <a:off x="8698482" y="346756"/>
            <a:ext cx="544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  <a:r>
              <a:rPr lang="ru-RU" dirty="0"/>
              <a:t>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C84BDE-EB1F-5266-FF81-ACAFB5ABCC38}"/>
              </a:ext>
            </a:extLst>
          </p:cNvPr>
          <p:cNvSpPr txBox="1"/>
          <p:nvPr/>
        </p:nvSpPr>
        <p:spPr>
          <a:xfrm>
            <a:off x="979657" y="1967050"/>
            <a:ext cx="544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  <a:r>
              <a:rPr lang="ru-RU" dirty="0"/>
              <a:t>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355A41-A76F-DE15-5502-6D996BE9158C}"/>
              </a:ext>
            </a:extLst>
          </p:cNvPr>
          <p:cNvSpPr txBox="1"/>
          <p:nvPr/>
        </p:nvSpPr>
        <p:spPr>
          <a:xfrm>
            <a:off x="6755930" y="2140612"/>
            <a:ext cx="544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  <a:r>
              <a:rPr lang="ru-RU" dirty="0"/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7EAD7C-BBBE-9018-D316-C41E72349540}"/>
              </a:ext>
            </a:extLst>
          </p:cNvPr>
          <p:cNvSpPr txBox="1"/>
          <p:nvPr/>
        </p:nvSpPr>
        <p:spPr>
          <a:xfrm>
            <a:off x="915403" y="4548383"/>
            <a:ext cx="544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  <a:r>
              <a:rPr lang="ru-RU" dirty="0"/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CD9D9D-13CA-EAB1-81D2-E270D1EB041F}"/>
              </a:ext>
            </a:extLst>
          </p:cNvPr>
          <p:cNvSpPr txBox="1"/>
          <p:nvPr/>
        </p:nvSpPr>
        <p:spPr>
          <a:xfrm>
            <a:off x="899738" y="5201456"/>
            <a:ext cx="544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  <a:r>
              <a:rPr lang="ru-RU" dirty="0"/>
              <a:t>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E2B43C-E9FD-639D-15EE-3FC37ABAF39C}"/>
              </a:ext>
            </a:extLst>
          </p:cNvPr>
          <p:cNvSpPr txBox="1"/>
          <p:nvPr/>
        </p:nvSpPr>
        <p:spPr>
          <a:xfrm>
            <a:off x="4672733" y="5190352"/>
            <a:ext cx="544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5763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C093DFE-36B8-E243-2115-95F494642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2890" y="294967"/>
            <a:ext cx="4379700" cy="62533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Если для решения задач нужен определитель матрицы, то его можно найти:</a:t>
            </a:r>
            <a:endParaRPr lang="ru-RU" b="0" i="0" dirty="0">
              <a:solidFill>
                <a:srgbClr val="262633"/>
              </a:solidFill>
              <a:effectLst/>
              <a:latin typeface="YS Text"/>
            </a:endParaRPr>
          </a:p>
          <a:p>
            <a:pPr marL="0" indent="0" algn="l">
              <a:buNone/>
            </a:pPr>
            <a:r>
              <a:rPr lang="ru-RU" dirty="0">
                <a:solidFill>
                  <a:srgbClr val="262633"/>
                </a:solidFill>
                <a:latin typeface="YS Text"/>
              </a:rPr>
              <a:t>1. </a:t>
            </a:r>
            <a:r>
              <a:rPr lang="ru-RU" b="0" i="0" dirty="0">
                <a:solidFill>
                  <a:srgbClr val="262633"/>
                </a:solidFill>
                <a:effectLst/>
                <a:latin typeface="YS Text"/>
              </a:rPr>
              <a:t>Ввести матрицу</a:t>
            </a:r>
            <a:endParaRPr lang="en-US" b="0" i="0" dirty="0">
              <a:solidFill>
                <a:srgbClr val="262633"/>
              </a:solidFill>
              <a:effectLst/>
              <a:latin typeface="YS Text"/>
            </a:endParaRPr>
          </a:p>
          <a:p>
            <a:pPr marL="0" indent="0" algn="l">
              <a:buNone/>
            </a:pPr>
            <a:r>
              <a:rPr lang="ru-RU" b="0" i="0" dirty="0">
                <a:solidFill>
                  <a:srgbClr val="262633"/>
                </a:solidFill>
                <a:effectLst/>
                <a:latin typeface="YS Text"/>
              </a:rPr>
              <a:t>2. Выделить ячейку, в которой будет результат вычисления. </a:t>
            </a:r>
            <a:endParaRPr lang="en-US" b="0" i="0" dirty="0">
              <a:solidFill>
                <a:srgbClr val="262633"/>
              </a:solidFill>
              <a:effectLst/>
              <a:latin typeface="YS Text"/>
            </a:endParaRPr>
          </a:p>
          <a:p>
            <a:pPr marL="0" indent="0" algn="l">
              <a:buNone/>
            </a:pPr>
            <a:r>
              <a:rPr lang="ru-RU" b="0" i="0" dirty="0">
                <a:solidFill>
                  <a:srgbClr val="262633"/>
                </a:solidFill>
                <a:effectLst/>
                <a:latin typeface="YS Text"/>
              </a:rPr>
              <a:t>3. Открыть мастер функций 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262633"/>
                </a:solidFill>
                <a:effectLst/>
                <a:latin typeface="YS Text"/>
              </a:rPr>
              <a:t>4. В открывшемся диалоговом окне выбрать категорию «Математические», а затем выбрать функцию</a:t>
            </a:r>
            <a:r>
              <a:rPr lang="en-US" b="0" i="0" dirty="0">
                <a:solidFill>
                  <a:srgbClr val="262633"/>
                </a:solidFill>
                <a:effectLst/>
                <a:latin typeface="YS Text"/>
              </a:rPr>
              <a:t> </a:t>
            </a:r>
            <a:r>
              <a:rPr lang="ru-RU" b="0" i="0" dirty="0">
                <a:solidFill>
                  <a:srgbClr val="262633"/>
                </a:solidFill>
                <a:effectLst/>
                <a:latin typeface="YS Text"/>
              </a:rPr>
              <a:t>«МОПРЕД».</a:t>
            </a:r>
            <a:r>
              <a:rPr lang="en-US" b="0" i="0" dirty="0">
                <a:solidFill>
                  <a:srgbClr val="262633"/>
                </a:solidFill>
                <a:effectLst/>
                <a:latin typeface="YS Text"/>
              </a:rPr>
              <a:t> </a:t>
            </a:r>
            <a:r>
              <a:rPr lang="ru-RU" b="0" i="0" dirty="0">
                <a:solidFill>
                  <a:srgbClr val="262633"/>
                </a:solidFill>
                <a:effectLst/>
                <a:latin typeface="YS Text"/>
              </a:rPr>
              <a:t>Нажать кнопку «ОК».</a:t>
            </a:r>
            <a:endParaRPr lang="en-US" b="0" i="0" dirty="0">
              <a:solidFill>
                <a:srgbClr val="262633"/>
              </a:solidFill>
              <a:effectLst/>
              <a:latin typeface="YS Text"/>
            </a:endParaRPr>
          </a:p>
          <a:p>
            <a:pPr marL="0" indent="0" algn="l">
              <a:buNone/>
            </a:pPr>
            <a:r>
              <a:rPr lang="ru-RU" b="0" i="0" dirty="0">
                <a:solidFill>
                  <a:srgbClr val="262633"/>
                </a:solidFill>
                <a:effectLst/>
                <a:latin typeface="YS Text"/>
              </a:rPr>
              <a:t>5. В новом диалоговом окне: Проверить, что курсор стоит в поле «Массив». И выделить диапазон ячеек</a:t>
            </a:r>
            <a:r>
              <a:rPr lang="en-US" b="0" i="0" dirty="0">
                <a:solidFill>
                  <a:srgbClr val="262633"/>
                </a:solidFill>
                <a:effectLst/>
                <a:latin typeface="YS Text"/>
              </a:rPr>
              <a:t> </a:t>
            </a:r>
            <a:r>
              <a:rPr lang="ru-RU" b="0" i="0" dirty="0">
                <a:solidFill>
                  <a:srgbClr val="262633"/>
                </a:solidFill>
                <a:effectLst/>
                <a:latin typeface="YS Text"/>
              </a:rPr>
              <a:t>матрицы. Нажать кнопку «ОК»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262633"/>
                </a:solidFill>
                <a:effectLst/>
                <a:latin typeface="YS Text"/>
              </a:rPr>
              <a:t>6.В ячейке будет показан ответ.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F9A807F-9B56-B920-BDD1-DFE1F407C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9277" y="205664"/>
            <a:ext cx="1773806" cy="122181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E2B0943-687B-AA53-7446-03EFC7B23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065" y="373586"/>
            <a:ext cx="1982257" cy="102583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737E3CA-8D6C-2521-4ED1-549D7E24F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4761" y="1757504"/>
            <a:ext cx="2080440" cy="3810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B2838D3-661E-7618-B47B-6FB751C6A9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6012" y="1757504"/>
            <a:ext cx="3575343" cy="27188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96330B6-F7D3-FE68-28E9-78EC061EC9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834393"/>
            <a:ext cx="4563311" cy="160275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5AF7A06-4ED3-A256-A709-19B31DBFE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4761" y="3116908"/>
            <a:ext cx="1806097" cy="103641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104F3F7-088A-993B-25A3-C61E22F506C3}"/>
              </a:ext>
            </a:extLst>
          </p:cNvPr>
          <p:cNvSpPr txBox="1"/>
          <p:nvPr/>
        </p:nvSpPr>
        <p:spPr>
          <a:xfrm>
            <a:off x="5582052" y="110301"/>
            <a:ext cx="544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E12CBC-8CDD-F6E5-69F8-2C52C9F63840}"/>
              </a:ext>
            </a:extLst>
          </p:cNvPr>
          <p:cNvSpPr txBox="1"/>
          <p:nvPr/>
        </p:nvSpPr>
        <p:spPr>
          <a:xfrm>
            <a:off x="8192529" y="294967"/>
            <a:ext cx="544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E0E1FF-C3F2-2B0F-15E5-A0B3172319C8}"/>
              </a:ext>
            </a:extLst>
          </p:cNvPr>
          <p:cNvSpPr txBox="1"/>
          <p:nvPr/>
        </p:nvSpPr>
        <p:spPr>
          <a:xfrm>
            <a:off x="9532501" y="1760690"/>
            <a:ext cx="544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3.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70B34D-725F-E366-30A6-9F9204B93FB5}"/>
              </a:ext>
            </a:extLst>
          </p:cNvPr>
          <p:cNvSpPr txBox="1"/>
          <p:nvPr/>
        </p:nvSpPr>
        <p:spPr>
          <a:xfrm>
            <a:off x="5382590" y="1720321"/>
            <a:ext cx="544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4.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3A34B1-8CF1-4FE6-10F5-A0259498928C}"/>
              </a:ext>
            </a:extLst>
          </p:cNvPr>
          <p:cNvSpPr txBox="1"/>
          <p:nvPr/>
        </p:nvSpPr>
        <p:spPr>
          <a:xfrm>
            <a:off x="5823740" y="4777823"/>
            <a:ext cx="544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E2904A-BA23-88B4-2951-99A709E2FD14}"/>
              </a:ext>
            </a:extLst>
          </p:cNvPr>
          <p:cNvSpPr txBox="1"/>
          <p:nvPr/>
        </p:nvSpPr>
        <p:spPr>
          <a:xfrm>
            <a:off x="9446840" y="3059668"/>
            <a:ext cx="544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6.</a:t>
            </a:r>
          </a:p>
        </p:txBody>
      </p:sp>
    </p:spTree>
    <p:extLst>
      <p:ext uri="{BB962C8B-B14F-4D97-AF65-F5344CB8AC3E}">
        <p14:creationId xmlns:p14="http://schemas.microsoft.com/office/powerpoint/2010/main" val="252530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4BAAABA-8DD4-7601-81C9-D23906FC7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017" y="238680"/>
            <a:ext cx="6041080" cy="481289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Если для решения задач нужно найти обратную матрицу, то :</a:t>
            </a:r>
            <a:endParaRPr lang="ru-RU" b="0" i="0" dirty="0">
              <a:solidFill>
                <a:srgbClr val="262633"/>
              </a:solidFill>
              <a:effectLst/>
              <a:latin typeface="YS Text"/>
            </a:endParaRPr>
          </a:p>
          <a:p>
            <a:pPr marL="0" indent="0" algn="l">
              <a:buNone/>
            </a:pPr>
            <a:r>
              <a:rPr lang="ru-RU" b="0" i="0" dirty="0">
                <a:solidFill>
                  <a:srgbClr val="262633"/>
                </a:solidFill>
                <a:effectLst/>
                <a:latin typeface="YS Text"/>
              </a:rPr>
              <a:t>1. Ввести матрицу.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262633"/>
                </a:solidFill>
                <a:effectLst/>
                <a:latin typeface="YS Text"/>
              </a:rPr>
              <a:t>2. Выделить диапазон ячеек, соответствующий размеру итоговой матрицы. 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262633"/>
                </a:solidFill>
                <a:effectLst/>
                <a:latin typeface="YS Text"/>
              </a:rPr>
              <a:t>3. Открыть мастер функций 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262633"/>
                </a:solidFill>
                <a:effectLst/>
                <a:latin typeface="YS Text"/>
              </a:rPr>
              <a:t>4. В открывшемся диалоговом окне выбрать категорию «Математические», а затем выбрать функцию «МОБР». Нажать кнопку «ОК».</a:t>
            </a:r>
          </a:p>
          <a:p>
            <a:pPr marL="0" indent="0" algn="l">
              <a:buNone/>
            </a:pPr>
            <a:r>
              <a:rPr lang="ru-RU" dirty="0">
                <a:solidFill>
                  <a:srgbClr val="262633"/>
                </a:solidFill>
                <a:latin typeface="YS Text"/>
              </a:rPr>
              <a:t>5. </a:t>
            </a:r>
            <a:r>
              <a:rPr lang="ru-RU" b="0" i="0" dirty="0">
                <a:solidFill>
                  <a:srgbClr val="262633"/>
                </a:solidFill>
                <a:effectLst/>
                <a:latin typeface="YS Text"/>
              </a:rPr>
              <a:t>В новом диалоговом окне: Проверить, что курсор стоит в поле «Массив». И выделить диапазон ячеек. Нажать кнопку «ОК»</a:t>
            </a:r>
          </a:p>
          <a:p>
            <a:pPr marL="0" indent="0" algn="l">
              <a:buNone/>
            </a:pPr>
            <a:r>
              <a:rPr lang="ru-RU" dirty="0">
                <a:solidFill>
                  <a:srgbClr val="262633"/>
                </a:solidFill>
                <a:latin typeface="YS Text"/>
              </a:rPr>
              <a:t>6. </a:t>
            </a:r>
            <a:r>
              <a:rPr lang="ru-RU" b="0" i="0" dirty="0">
                <a:solidFill>
                  <a:srgbClr val="262633"/>
                </a:solidFill>
                <a:effectLst/>
                <a:latin typeface="YS Text"/>
              </a:rPr>
              <a:t>Затем НЕ снимая выделения с ячеек, щёлкнуть в строку формул: установить курсор после закрывающей скобки. Нажать на клавиатуре сочетание клавиш: Ctrl + Shift + Enter.</a:t>
            </a:r>
          </a:p>
          <a:p>
            <a:pPr marL="0" indent="0" algn="l">
              <a:buNone/>
            </a:pPr>
            <a:r>
              <a:rPr lang="ru-RU" dirty="0">
                <a:solidFill>
                  <a:srgbClr val="262633"/>
                </a:solidFill>
                <a:latin typeface="YS Text"/>
              </a:rPr>
              <a:t>7. </a:t>
            </a:r>
            <a:r>
              <a:rPr lang="ru-RU" b="0" i="0" dirty="0">
                <a:solidFill>
                  <a:srgbClr val="262633"/>
                </a:solidFill>
                <a:effectLst/>
                <a:latin typeface="YS Text"/>
              </a:rPr>
              <a:t>В строке формул появятся фигурные скобки.</a:t>
            </a:r>
          </a:p>
          <a:p>
            <a:pPr marL="0" indent="0" algn="l">
              <a:buNone/>
            </a:pPr>
            <a:r>
              <a:rPr lang="ru-RU" dirty="0">
                <a:solidFill>
                  <a:srgbClr val="262633"/>
                </a:solidFill>
                <a:latin typeface="YS Text"/>
              </a:rPr>
              <a:t>8. </a:t>
            </a:r>
            <a:r>
              <a:rPr lang="ru-RU" b="0" i="0" dirty="0">
                <a:solidFill>
                  <a:srgbClr val="262633"/>
                </a:solidFill>
                <a:effectLst/>
                <a:latin typeface="YS Text"/>
              </a:rPr>
              <a:t>В диапазоне итоговой матрицы будет найдена обратная матрица.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C68D8BA-871F-13CF-5312-7FFC47F16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575" y="412956"/>
            <a:ext cx="1912786" cy="124216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A5F3666-0B66-3C0D-7A2F-D6DB2A34C6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834"/>
          <a:stretch/>
        </p:blipFill>
        <p:spPr>
          <a:xfrm>
            <a:off x="9607875" y="412956"/>
            <a:ext cx="1943268" cy="124216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0988CAF-5331-82D6-1244-F7B18AEE1C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0090" y="1845995"/>
            <a:ext cx="2080440" cy="38103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928D166-BB19-0B8D-17CA-B1EA916AF5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8011" y="2533409"/>
            <a:ext cx="3052649" cy="232401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93AE9FB-59DD-B275-E937-8FFECB4455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8575" y="5051573"/>
            <a:ext cx="4729316" cy="1616907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EF01969-DDFF-12A4-5272-F702CB9B79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2732" y="5371409"/>
            <a:ext cx="1966130" cy="266723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6D58105-F1AB-6551-6D56-F6738EB8DF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5594" y="5957969"/>
            <a:ext cx="1920406" cy="251482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9E73384-9BA7-8342-CC5E-92BBD90C1E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3246" y="5208459"/>
            <a:ext cx="1920406" cy="130313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FB4694C-C19C-7CA6-8472-17EEE901E7EF}"/>
              </a:ext>
            </a:extLst>
          </p:cNvPr>
          <p:cNvSpPr txBox="1"/>
          <p:nvPr/>
        </p:nvSpPr>
        <p:spPr>
          <a:xfrm>
            <a:off x="6622034" y="331966"/>
            <a:ext cx="544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F82DF7-FA1E-D2FF-3490-DAB095C810C4}"/>
              </a:ext>
            </a:extLst>
          </p:cNvPr>
          <p:cNvSpPr txBox="1"/>
          <p:nvPr/>
        </p:nvSpPr>
        <p:spPr>
          <a:xfrm>
            <a:off x="9226033" y="331966"/>
            <a:ext cx="544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A8A6FE-4E3E-B7DC-C236-4A4FE676A5A1}"/>
              </a:ext>
            </a:extLst>
          </p:cNvPr>
          <p:cNvSpPr txBox="1"/>
          <p:nvPr/>
        </p:nvSpPr>
        <p:spPr>
          <a:xfrm>
            <a:off x="7916968" y="1851845"/>
            <a:ext cx="544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3.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FD39ED-92E0-C1FD-4B25-6E0DEFDABEE3}"/>
              </a:ext>
            </a:extLst>
          </p:cNvPr>
          <p:cNvSpPr txBox="1"/>
          <p:nvPr/>
        </p:nvSpPr>
        <p:spPr>
          <a:xfrm>
            <a:off x="7255333" y="2533409"/>
            <a:ext cx="544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4.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EC7F14-9F69-64FC-1762-9A7931D8FAE3}"/>
              </a:ext>
            </a:extLst>
          </p:cNvPr>
          <p:cNvSpPr txBox="1"/>
          <p:nvPr/>
        </p:nvSpPr>
        <p:spPr>
          <a:xfrm>
            <a:off x="6637612" y="4981594"/>
            <a:ext cx="544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AA994A-AF61-7EC4-5D9E-0C5D01D38C53}"/>
              </a:ext>
            </a:extLst>
          </p:cNvPr>
          <p:cNvSpPr txBox="1"/>
          <p:nvPr/>
        </p:nvSpPr>
        <p:spPr>
          <a:xfrm>
            <a:off x="3774479" y="5268800"/>
            <a:ext cx="544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6.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5C5A23-C320-45E8-4241-465322B4D6B0}"/>
              </a:ext>
            </a:extLst>
          </p:cNvPr>
          <p:cNvSpPr txBox="1"/>
          <p:nvPr/>
        </p:nvSpPr>
        <p:spPr>
          <a:xfrm>
            <a:off x="3791595" y="5899044"/>
            <a:ext cx="544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7.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48F8AE-1639-350F-CB3B-B1DE0772174C}"/>
              </a:ext>
            </a:extLst>
          </p:cNvPr>
          <p:cNvSpPr txBox="1"/>
          <p:nvPr/>
        </p:nvSpPr>
        <p:spPr>
          <a:xfrm>
            <a:off x="804993" y="5128779"/>
            <a:ext cx="544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8.</a:t>
            </a:r>
          </a:p>
        </p:txBody>
      </p:sp>
    </p:spTree>
    <p:extLst>
      <p:ext uri="{BB962C8B-B14F-4D97-AF65-F5344CB8AC3E}">
        <p14:creationId xmlns:p14="http://schemas.microsoft.com/office/powerpoint/2010/main" val="2523959446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Уголки</Template>
  <TotalTime>139</TotalTime>
  <Words>1065</Words>
  <Application>Microsoft Office PowerPoint</Application>
  <PresentationFormat>Широкоэкранный</PresentationFormat>
  <Paragraphs>114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Cambria Math</vt:lpstr>
      <vt:lpstr>Franklin Gothic Book</vt:lpstr>
      <vt:lpstr>YS Text</vt:lpstr>
      <vt:lpstr>Уголки</vt:lpstr>
      <vt:lpstr>Этапы решения задач с матрицами средствами электронных таблиц.</vt:lpstr>
      <vt:lpstr>Для решения задач с матрицами воспользуемся MS Excel 2019 Ход работы: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«Этапы решения задач с матрицами средствами электронных таблиц».</dc:title>
  <dc:creator>Виктор Коршунов</dc:creator>
  <cp:lastModifiedBy>Виктор Коршунов</cp:lastModifiedBy>
  <cp:revision>2</cp:revision>
  <dcterms:created xsi:type="dcterms:W3CDTF">2022-12-16T11:18:48Z</dcterms:created>
  <dcterms:modified xsi:type="dcterms:W3CDTF">2022-12-16T13:40:13Z</dcterms:modified>
</cp:coreProperties>
</file>