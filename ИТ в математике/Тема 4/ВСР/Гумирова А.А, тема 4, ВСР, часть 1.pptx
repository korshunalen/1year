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Средний стиль 4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D2C5A6-3946-6303-0618-BB1680C899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45C680A-866B-06D0-0F5C-8A2011E368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ED917C-B41B-F5D2-880C-1CD6B7E7F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EAE1C-48C2-406E-A351-E4776D44FDF5}" type="datetimeFigureOut">
              <a:rPr lang="ru-RU" smtClean="0"/>
              <a:t>25.12.2022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8FF340D-F046-9AF5-8B5A-09CB03625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08864B-A76F-95E9-016F-F448C1FC6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C89AA-9274-484F-A8B8-0F1CE2BD08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779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95863C-F06F-7A60-F10F-3ED3DB4CA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AF221E-C0CE-C446-D306-4730F72BD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CBD3E0B-7E39-459B-93E0-EE939AEB6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EAE1C-48C2-406E-A351-E4776D44FDF5}" type="datetimeFigureOut">
              <a:rPr lang="ru-RU" smtClean="0"/>
              <a:t>25.12.2022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F88406-E5EB-5B9A-F2C0-98AB89452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04FC75-3DDF-F5B1-FD90-CBEE552F3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C89AA-9274-484F-A8B8-0F1CE2BD08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5334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C2ECFF-7C7C-8640-0E7E-2216CC48F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4C4CFCA-9C31-80DA-AF45-3432929B0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4822DB-E518-C1BC-1E83-90982A045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EAE1C-48C2-406E-A351-E4776D44FDF5}" type="datetimeFigureOut">
              <a:rPr lang="ru-RU" smtClean="0"/>
              <a:t>25.12.2022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146DCF-9798-6E48-F235-5AEF6EE07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F15EC2-29A8-7758-8C09-64AA08BC0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C89AA-9274-484F-A8B8-0F1CE2BD08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7113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6BA90A-7179-0EEE-0B3F-59853F35E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A40912-F350-97B6-AA70-DBD87F4CAE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159DD99-2A61-5BD0-81CE-DB9DE85B6F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10E1843-EB94-EA84-4D55-1A7D63633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EAE1C-48C2-406E-A351-E4776D44FDF5}" type="datetimeFigureOut">
              <a:rPr lang="ru-RU" smtClean="0"/>
              <a:t>25.12.2022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413C038-2AF4-4CBB-5365-A5247DE1A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899C372-D3DB-8C5F-6470-9198F495F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C89AA-9274-484F-A8B8-0F1CE2BD08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356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2B178A-B925-D0AD-ECA2-978F4F7D2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9F4C03B-DADF-EFD2-ED78-1EF722CC4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8124B4E-E70E-0FD7-26AF-ADA8E6EDDC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053498-EBB8-45E6-CD3E-D589698802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9D75406-FBB7-2740-B964-89357D0FF9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6B75494-CFF2-E970-C193-D86F01065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EAE1C-48C2-406E-A351-E4776D44FDF5}" type="datetimeFigureOut">
              <a:rPr lang="ru-RU" smtClean="0"/>
              <a:t>25.12.2022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3FA625A-1019-F0DC-BB58-F90167036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361E251-A9FE-8CA7-0FF1-D782BF7E0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C89AA-9274-484F-A8B8-0F1CE2BD08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7931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19306B-521A-1FB9-48FD-FBA21F044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CC6FC69-5CBA-9CEF-9517-707423C0A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EAE1C-48C2-406E-A351-E4776D44FDF5}" type="datetimeFigureOut">
              <a:rPr lang="ru-RU" smtClean="0"/>
              <a:t>25.12.2022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07DF938-7B1C-54C1-F84A-329925204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1AC72A2-5F38-CEB6-8FB4-E0B1EC5AB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C89AA-9274-484F-A8B8-0F1CE2BD08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2004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24C0DF7-2632-FC8F-1BEE-631BF6B7F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EAE1C-48C2-406E-A351-E4776D44FDF5}" type="datetimeFigureOut">
              <a:rPr lang="ru-RU" smtClean="0"/>
              <a:t>25.12.2022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205A16E-6D88-A0E3-D692-9DD6D3BA1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5A3098B-FC73-F4D3-FF31-75D598C7C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C89AA-9274-484F-A8B8-0F1CE2BD08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3638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4306FA-59D8-B239-690B-9EC8C6FD2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EBD194-779D-7038-AFDB-2F547B641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E0B2879-0E0C-59AF-C4A2-9875188505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0749E57-D92A-0D5E-397E-91294BE1E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EAE1C-48C2-406E-A351-E4776D44FDF5}" type="datetimeFigureOut">
              <a:rPr lang="ru-RU" smtClean="0"/>
              <a:t>25.12.2022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F603635-1B55-379A-D3A5-BE41BB794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156070-B5F4-23E9-2A4C-9FE4D2C7E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C89AA-9274-484F-A8B8-0F1CE2BD08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2744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517FEB-45D4-A559-6741-CC53B9A49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563E8CA-F74F-6C50-74CE-61F525BD4A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AC92189-B851-96F6-CEA3-1045FD2105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6779563-B401-103F-75C7-9B11B491E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EAE1C-48C2-406E-A351-E4776D44FDF5}" type="datetimeFigureOut">
              <a:rPr lang="ru-RU" smtClean="0"/>
              <a:t>25.12.2022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E6EEE17-D66D-2E84-32F0-5B77F1430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FD0F406-C32A-87C8-9244-F9E2F39C1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C89AA-9274-484F-A8B8-0F1CE2BD08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1212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F21D65-4D4D-2597-31FB-9D2805478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AA94001-74F3-CAA6-4D0C-F0082D7670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B7D37F-384C-91EC-48CC-5CEBD93AF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EAE1C-48C2-406E-A351-E4776D44FDF5}" type="datetimeFigureOut">
              <a:rPr lang="ru-RU" smtClean="0"/>
              <a:t>25.12.2022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C6299F-54BE-BCF2-B332-BCF59BA32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0CAE14-B5ED-37A3-63F1-F757F7E55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C89AA-9274-484F-A8B8-0F1CE2BD08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8217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3EB918E-7E38-4AC0-438E-E338E13713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B311204-82BE-1A13-2C27-F41689750A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31344E-7E99-FEB6-3B92-430FFDCA7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EAE1C-48C2-406E-A351-E4776D44FDF5}" type="datetimeFigureOut">
              <a:rPr lang="ru-RU" smtClean="0"/>
              <a:t>25.12.2022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727816-1AFD-4DCD-639C-C673E7AE0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F11507-0A7B-51EB-646E-A174A1755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C89AA-9274-484F-A8B8-0F1CE2BD08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7903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8F3E91-5052-0B9D-5A6F-A08818F53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651825-2F54-0DBD-19CE-3CCDB589C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9AF88B8-F555-0F22-88F4-F000BDAB96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DEAE1C-48C2-406E-A351-E4776D44FDF5}" type="datetimeFigureOut">
              <a:rPr lang="ru-RU" smtClean="0"/>
              <a:t>25.12.2022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DD31DF-10DF-3ED8-6C7F-984C9E8369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DDD99C-4C7E-5FDF-8A09-0ED59651F5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BC89AA-9274-484F-A8B8-0F1CE2BD08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1915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yadi.sk/i/zz6t7hvHPLOayQ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F9ADA5-8C58-D0D5-4642-DFC7CFF9BA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8361" y="1623809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Работа с матрицами в прикладной компьютерной программе Maxima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73B045D-CE5A-510C-63BC-54510F42F1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0516" y="4762245"/>
            <a:ext cx="9144000" cy="1655762"/>
          </a:xfrm>
        </p:spPr>
        <p:txBody>
          <a:bodyPr/>
          <a:lstStyle/>
          <a:p>
            <a:r>
              <a:rPr lang="ru-RU" dirty="0"/>
              <a:t>Презентацию создал студент ИВТ </a:t>
            </a:r>
            <a:r>
              <a:rPr lang="ru-RU" dirty="0" err="1"/>
              <a:t>гр</a:t>
            </a:r>
            <a:r>
              <a:rPr lang="ru-RU" dirty="0"/>
              <a:t> 2.2. </a:t>
            </a:r>
            <a:r>
              <a:rPr lang="ru-RU" dirty="0" err="1"/>
              <a:t>Гумирова</a:t>
            </a:r>
            <a:r>
              <a:rPr lang="ru-RU" dirty="0"/>
              <a:t> Алена</a:t>
            </a:r>
          </a:p>
        </p:txBody>
      </p:sp>
    </p:spTree>
    <p:extLst>
      <p:ext uri="{BB962C8B-B14F-4D97-AF65-F5344CB8AC3E}">
        <p14:creationId xmlns:p14="http://schemas.microsoft.com/office/powerpoint/2010/main" val="4155502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1B18F7-538E-A9B9-0074-6C48A13FA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latin typeface="+mn-lt"/>
              </a:rPr>
              <a:t>Ввод матрицы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9230B6-36F2-D0F0-E331-066DC8829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Ввод матрицы осуществляется двумя способами:</a:t>
            </a:r>
          </a:p>
          <a:p>
            <a:pPr marL="0" indent="0">
              <a:buNone/>
            </a:pPr>
            <a:r>
              <a:rPr lang="ru-RU" sz="2400" dirty="0"/>
              <a:t>1. С клавиатуры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1A1A1A"/>
                </a:solidFill>
                <a:effectLst/>
                <a:ea typeface="Calibri" panose="020F0502020204030204" pitchFamily="34" charset="0"/>
              </a:rPr>
              <a:t>matrix([a11,a12,…,a1n], [a21,a22,…,a2n],…, [am1,am2,…,</a:t>
            </a:r>
            <a:r>
              <a:rPr lang="en-US" sz="2400" dirty="0" err="1">
                <a:solidFill>
                  <a:srgbClr val="1A1A1A"/>
                </a:solidFill>
                <a:effectLst/>
                <a:ea typeface="Calibri" panose="020F0502020204030204" pitchFamily="34" charset="0"/>
              </a:rPr>
              <a:t>amn</a:t>
            </a:r>
            <a:r>
              <a:rPr lang="en-US" sz="2400" dirty="0">
                <a:solidFill>
                  <a:srgbClr val="1A1A1A"/>
                </a:solidFill>
                <a:effectLst/>
                <a:ea typeface="Calibri" panose="020F0502020204030204" pitchFamily="34" charset="0"/>
              </a:rPr>
              <a:t>])</a:t>
            </a:r>
            <a:endParaRPr lang="ru-RU" sz="2400" dirty="0">
              <a:solidFill>
                <a:srgbClr val="1A1A1A"/>
              </a:solidFill>
              <a:effectLst/>
              <a:ea typeface="Calibri" panose="020F0502020204030204" pitchFamily="34" charset="0"/>
            </a:endParaRPr>
          </a:p>
          <a:p>
            <a:pPr marL="0" indent="0" algn="ctr">
              <a:buNone/>
            </a:pPr>
            <a:endParaRPr lang="ru-RU" sz="2400" dirty="0">
              <a:solidFill>
                <a:srgbClr val="1A1A1A"/>
              </a:solidFill>
              <a:effectLst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ru-RU" sz="2400" dirty="0">
              <a:solidFill>
                <a:srgbClr val="1A1A1A"/>
              </a:solidFill>
            </a:endParaRPr>
          </a:p>
          <a:p>
            <a:pPr marL="0" indent="0">
              <a:buNone/>
            </a:pPr>
            <a:endParaRPr lang="ru-RU" sz="2400" dirty="0">
              <a:solidFill>
                <a:srgbClr val="1A1A1A"/>
              </a:solidFill>
            </a:endParaRPr>
          </a:p>
          <a:p>
            <a:pPr marL="0" indent="0">
              <a:buNone/>
            </a:pPr>
            <a:r>
              <a:rPr lang="ru-RU" sz="2400" dirty="0">
                <a:solidFill>
                  <a:srgbClr val="1A1A1A"/>
                </a:solidFill>
              </a:rPr>
              <a:t>2. При помощи команд</a:t>
            </a:r>
          </a:p>
          <a:p>
            <a:pPr marL="0" indent="0" algn="ctr">
              <a:buNone/>
            </a:pPr>
            <a:r>
              <a:rPr lang="ru-RU" sz="2400" dirty="0">
                <a:solidFill>
                  <a:srgbClr val="1A1A1A"/>
                </a:solidFill>
                <a:effectLst/>
                <a:ea typeface="Calibri" panose="020F0502020204030204" pitchFamily="34" charset="0"/>
              </a:rPr>
              <a:t>команда «Ввод матрицы» главного меню «Алгебра».</a:t>
            </a:r>
            <a:endParaRPr lang="ru-RU"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E4CBFA2-A4E3-2C50-8852-CAAD373A8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721" y="3272136"/>
            <a:ext cx="4776205" cy="1073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408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B9BBD7-7851-B4E4-47BD-47B3B49CD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solidFill>
                  <a:srgbClr val="1A1A1A"/>
                </a:solidFill>
                <a:effectLst/>
                <a:latin typeface="+mn-lt"/>
                <a:ea typeface="Calibri" panose="020F0502020204030204" pitchFamily="34" charset="0"/>
              </a:rPr>
              <a:t>Создание матрицы, элементами которой являются матрицы</a:t>
            </a:r>
            <a:endParaRPr lang="ru-RU" sz="3600" dirty="0"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42A8F2-1438-9C50-74FF-FD6564F1C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2200" dirty="0"/>
              <a:t>Данную матрицу можно создать при помощи команд на панели управления</a:t>
            </a:r>
          </a:p>
          <a:p>
            <a:pPr marL="0" indent="0" algn="ctr">
              <a:buNone/>
            </a:pPr>
            <a:r>
              <a:rPr lang="ru-RU" sz="2200" dirty="0">
                <a:effectLst/>
                <a:ea typeface="Calibri" panose="020F0502020204030204" pitchFamily="34" charset="0"/>
              </a:rPr>
              <a:t>команда «создать матрицу…» главного меню Алгебра</a:t>
            </a:r>
          </a:p>
          <a:p>
            <a:pPr marL="0" indent="0" algn="ctr">
              <a:buNone/>
            </a:pPr>
            <a:endParaRPr lang="ru-RU" sz="22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ctr">
              <a:buNone/>
            </a:pPr>
            <a:endParaRPr lang="ru-RU" sz="2200" dirty="0">
              <a:latin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ru-RU" sz="2200" dirty="0">
              <a:latin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ru-RU" sz="2200" dirty="0">
              <a:latin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ru-RU" sz="2200" dirty="0">
              <a:latin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ru-RU" sz="2200" dirty="0">
              <a:latin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ru-RU" sz="2200" dirty="0">
              <a:latin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902701A-2A19-2737-5B16-06061814F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744" y="2842163"/>
            <a:ext cx="6609389" cy="346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306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24CD983-4B3A-7454-A325-C6BEABC6A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dirty="0">
                <a:solidFill>
                  <a:srgbClr val="1A1A1A"/>
                </a:solidFill>
                <a:effectLst/>
                <a:latin typeface="+mn-lt"/>
                <a:ea typeface="Calibri" panose="020F0502020204030204" pitchFamily="34" charset="0"/>
              </a:rPr>
              <a:t>Создание матрицы, элементами которой являются матрицы</a:t>
            </a:r>
            <a:endParaRPr lang="ru-RU" sz="3600" dirty="0">
              <a:latin typeface="+mn-lt"/>
            </a:endParaRP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3BAB0DE4-0163-EA66-1C5A-859C81527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Autofit/>
          </a:bodyPr>
          <a:lstStyle/>
          <a:p>
            <a:r>
              <a:rPr lang="ru-RU" sz="2200" dirty="0"/>
              <a:t>Также такую матрицу можно создать при помощи команд на панели управления</a:t>
            </a:r>
          </a:p>
          <a:p>
            <a:pPr marL="0" indent="0" algn="ctr">
              <a:buNone/>
            </a:pPr>
            <a:r>
              <a:rPr lang="ru-RU" sz="2200" dirty="0">
                <a:solidFill>
                  <a:srgbClr val="1A1A1A"/>
                </a:solidFill>
                <a:effectLst/>
                <a:ea typeface="Calibri" panose="020F0502020204030204" pitchFamily="34" charset="0"/>
              </a:rPr>
              <a:t>команда «Создать матрицу из выражения…» главного меню Алгебра</a:t>
            </a:r>
            <a:endParaRPr lang="ru-RU" sz="2200" dirty="0"/>
          </a:p>
          <a:p>
            <a:endParaRPr lang="ru-RU" sz="2200" dirty="0">
              <a:latin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ru-RU" sz="2200" dirty="0">
              <a:latin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ru-RU" sz="2200" dirty="0">
              <a:latin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BA0C403-EDE4-9F8B-F0D4-6AFAB8413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4063" y="2912100"/>
            <a:ext cx="7299357" cy="285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675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A90015-8C4A-4BF5-FDBA-DAFE3E997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6026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+mn-lt"/>
              </a:rPr>
              <a:t>Действия над матрицами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0BB464DE-40BF-71EA-A937-B5DEC130BF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895848"/>
              </p:ext>
            </p:extLst>
          </p:nvPr>
        </p:nvGraphicFramePr>
        <p:xfrm>
          <a:off x="963561" y="1235279"/>
          <a:ext cx="10264877" cy="5388078"/>
        </p:xfrm>
        <a:graphic>
          <a:graphicData uri="http://schemas.openxmlformats.org/drawingml/2006/table">
            <a:tbl>
              <a:tblPr firstRow="1" firstCol="1" bandRow="1">
                <a:tableStyleId>{8A107856-5554-42FB-B03E-39F5DBC370BA}</a:tableStyleId>
              </a:tblPr>
              <a:tblGrid>
                <a:gridCol w="2664541">
                  <a:extLst>
                    <a:ext uri="{9D8B030D-6E8A-4147-A177-3AD203B41FA5}">
                      <a16:colId xmlns:a16="http://schemas.microsoft.com/office/drawing/2014/main" val="3227873854"/>
                    </a:ext>
                  </a:extLst>
                </a:gridCol>
                <a:gridCol w="7600336">
                  <a:extLst>
                    <a:ext uri="{9D8B030D-6E8A-4147-A177-3AD203B41FA5}">
                      <a16:colId xmlns:a16="http://schemas.microsoft.com/office/drawing/2014/main" val="3001435594"/>
                    </a:ext>
                  </a:extLst>
                </a:gridCol>
              </a:tblGrid>
              <a:tr h="2836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</a:rPr>
                        <a:t>A+B</a:t>
                      </a:r>
                      <a:endParaRPr lang="ru-RU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57" marR="5065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b="0" kern="100" dirty="0">
                          <a:effectLst/>
                        </a:rPr>
                        <a:t>Сумма матриц А и В</a:t>
                      </a:r>
                      <a:endParaRPr lang="ru-RU" sz="1800" b="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57" marR="50657" marT="0" marB="0"/>
                </a:tc>
                <a:extLst>
                  <a:ext uri="{0D108BD9-81ED-4DB2-BD59-A6C34878D82A}">
                    <a16:rowId xmlns:a16="http://schemas.microsoft.com/office/drawing/2014/main" val="1292812124"/>
                  </a:ext>
                </a:extLst>
              </a:tr>
              <a:tr h="2924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kern="100" dirty="0">
                          <a:effectLst/>
                        </a:rPr>
                        <a:t>А-В</a:t>
                      </a:r>
                      <a:endParaRPr lang="ru-RU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57" marR="5065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kern="100" dirty="0">
                          <a:effectLst/>
                        </a:rPr>
                        <a:t>Разница матриц А и В</a:t>
                      </a:r>
                      <a:endParaRPr lang="ru-RU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57" marR="50657" marT="0" marB="0"/>
                </a:tc>
                <a:extLst>
                  <a:ext uri="{0D108BD9-81ED-4DB2-BD59-A6C34878D82A}">
                    <a16:rowId xmlns:a16="http://schemas.microsoft.com/office/drawing/2014/main" val="1970602034"/>
                  </a:ext>
                </a:extLst>
              </a:tr>
              <a:tr h="2924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kern="100">
                          <a:effectLst/>
                        </a:rPr>
                        <a:t>А*</a:t>
                      </a:r>
                      <a:r>
                        <a:rPr lang="en-US" sz="1800" kern="100">
                          <a:effectLst/>
                        </a:rPr>
                        <a:t>B</a:t>
                      </a:r>
                      <a:endParaRPr lang="ru-RU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57" marR="5065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kern="100" dirty="0">
                          <a:effectLst/>
                        </a:rPr>
                        <a:t>Поэлементное произведение матриц А и В</a:t>
                      </a:r>
                      <a:endParaRPr lang="ru-RU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57" marR="50657" marT="0" marB="0"/>
                </a:tc>
                <a:extLst>
                  <a:ext uri="{0D108BD9-81ED-4DB2-BD59-A6C34878D82A}">
                    <a16:rowId xmlns:a16="http://schemas.microsoft.com/office/drawing/2014/main" val="2079135085"/>
                  </a:ext>
                </a:extLst>
              </a:tr>
              <a:tr h="2924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kern="100" dirty="0">
                          <a:effectLst/>
                        </a:rPr>
                        <a:t>А.В</a:t>
                      </a:r>
                      <a:endParaRPr lang="ru-RU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57" marR="5065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kern="100">
                          <a:effectLst/>
                        </a:rPr>
                        <a:t>Произведение матриц А и В</a:t>
                      </a:r>
                      <a:endParaRPr lang="ru-RU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57" marR="50657" marT="0" marB="0"/>
                </a:tc>
                <a:extLst>
                  <a:ext uri="{0D108BD9-81ED-4DB2-BD59-A6C34878D82A}">
                    <a16:rowId xmlns:a16="http://schemas.microsoft.com/office/drawing/2014/main" val="1211467068"/>
                  </a:ext>
                </a:extLst>
              </a:tr>
              <a:tr h="2924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kern="100" dirty="0">
                          <a:effectLst/>
                        </a:rPr>
                        <a:t>к*А</a:t>
                      </a:r>
                      <a:endParaRPr lang="ru-RU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57" marR="5065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kern="100">
                          <a:effectLst/>
                        </a:rPr>
                        <a:t>Произведение матрицы А на число к</a:t>
                      </a:r>
                      <a:endParaRPr lang="ru-RU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57" marR="50657" marT="0" marB="0"/>
                </a:tc>
                <a:extLst>
                  <a:ext uri="{0D108BD9-81ED-4DB2-BD59-A6C34878D82A}">
                    <a16:rowId xmlns:a16="http://schemas.microsoft.com/office/drawing/2014/main" val="1786418754"/>
                  </a:ext>
                </a:extLst>
              </a:tr>
              <a:tr h="2924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kern="100" dirty="0">
                          <a:effectLst/>
                        </a:rPr>
                        <a:t>А/В</a:t>
                      </a:r>
                      <a:endParaRPr lang="ru-RU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57" marR="5065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kern="100">
                          <a:effectLst/>
                        </a:rPr>
                        <a:t>Поэлементное частное матриц А и В</a:t>
                      </a:r>
                      <a:endParaRPr lang="ru-RU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57" marR="50657" marT="0" marB="0"/>
                </a:tc>
                <a:extLst>
                  <a:ext uri="{0D108BD9-81ED-4DB2-BD59-A6C34878D82A}">
                    <a16:rowId xmlns:a16="http://schemas.microsoft.com/office/drawing/2014/main" val="933377858"/>
                  </a:ext>
                </a:extLst>
              </a:tr>
              <a:tr h="59848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</a:rPr>
                        <a:t>exp(A)</a:t>
                      </a:r>
                      <a:endParaRPr lang="ru-RU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57" marR="5065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kern="0" dirty="0">
                          <a:effectLst/>
                        </a:rPr>
                        <a:t>Получение матрицы, в которой число «е» возводится в соответствующую степень (элементы матрицы « </a:t>
                      </a:r>
                      <a:r>
                        <a:rPr lang="en-US" sz="1800" kern="0" dirty="0">
                          <a:effectLst/>
                        </a:rPr>
                        <a:t>A</a:t>
                      </a:r>
                      <a:r>
                        <a:rPr lang="ru-RU" sz="1800" kern="0" dirty="0">
                          <a:effectLst/>
                        </a:rPr>
                        <a:t> »).</a:t>
                      </a:r>
                      <a:endParaRPr lang="ru-RU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57" marR="50657" marT="0" marB="0"/>
                </a:tc>
                <a:extLst>
                  <a:ext uri="{0D108BD9-81ED-4DB2-BD59-A6C34878D82A}">
                    <a16:rowId xmlns:a16="http://schemas.microsoft.com/office/drawing/2014/main" val="687669726"/>
                  </a:ext>
                </a:extLst>
              </a:tr>
              <a:tr h="59848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143000" algn="l"/>
                        </a:tabLst>
                      </a:pPr>
                      <a:r>
                        <a:rPr lang="en-US" sz="1800" kern="100">
                          <a:effectLst/>
                        </a:rPr>
                        <a:t>exp(A), numer</a:t>
                      </a:r>
                      <a:endParaRPr lang="ru-RU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57" marR="5065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kern="0" dirty="0">
                          <a:effectLst/>
                        </a:rPr>
                        <a:t>Получение и вычисление матрицы, в которой число «е» возводится в соответствующую степень (элементы матрицы А)</a:t>
                      </a:r>
                      <a:endParaRPr lang="ru-RU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57" marR="50657" marT="0" marB="0"/>
                </a:tc>
                <a:extLst>
                  <a:ext uri="{0D108BD9-81ED-4DB2-BD59-A6C34878D82A}">
                    <a16:rowId xmlns:a16="http://schemas.microsoft.com/office/drawing/2014/main" val="948833371"/>
                  </a:ext>
                </a:extLst>
              </a:tr>
              <a:tr h="60165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</a:rPr>
                        <a:t>sqrt(A)</a:t>
                      </a:r>
                      <a:endParaRPr lang="ru-RU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57" marR="5065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kern="0" dirty="0">
                          <a:effectLst/>
                        </a:rPr>
                        <a:t>Получение матрицы, элементами которой являются квадратные корни из элементов матрицы « </a:t>
                      </a:r>
                      <a:r>
                        <a:rPr lang="en-US" sz="1800" kern="0" dirty="0">
                          <a:effectLst/>
                        </a:rPr>
                        <a:t>A</a:t>
                      </a:r>
                      <a:r>
                        <a:rPr lang="ru-RU" sz="1800" kern="0" dirty="0">
                          <a:effectLst/>
                        </a:rPr>
                        <a:t> »</a:t>
                      </a:r>
                      <a:endParaRPr lang="ru-RU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57" marR="50657" marT="0" marB="0"/>
                </a:tc>
                <a:extLst>
                  <a:ext uri="{0D108BD9-81ED-4DB2-BD59-A6C34878D82A}">
                    <a16:rowId xmlns:a16="http://schemas.microsoft.com/office/drawing/2014/main" val="2428097658"/>
                  </a:ext>
                </a:extLst>
              </a:tr>
              <a:tr h="61783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</a:rPr>
                        <a:t>sqrt(A),numer</a:t>
                      </a:r>
                      <a:endParaRPr lang="ru-RU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57" marR="5065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kern="0" dirty="0">
                          <a:effectLst/>
                        </a:rPr>
                        <a:t>Получение и вычисление матрицы, элементами которой являются квадратные корни из элементов матрицы « А »</a:t>
                      </a:r>
                      <a:endParaRPr lang="ru-RU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57" marR="50657" marT="0" marB="0"/>
                </a:tc>
                <a:extLst>
                  <a:ext uri="{0D108BD9-81ED-4DB2-BD59-A6C34878D82A}">
                    <a16:rowId xmlns:a16="http://schemas.microsoft.com/office/drawing/2014/main" val="3216188328"/>
                  </a:ext>
                </a:extLst>
              </a:tr>
              <a:tr h="30274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</a:rPr>
                        <a:t>A^2</a:t>
                      </a:r>
                      <a:endParaRPr lang="ru-RU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57" marR="5065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kern="0" dirty="0">
                          <a:effectLst/>
                        </a:rPr>
                        <a:t>Каждый элемент матрицы « А » возведён в квадрат</a:t>
                      </a:r>
                      <a:endParaRPr lang="ru-RU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57" marR="50657" marT="0" marB="0"/>
                </a:tc>
                <a:extLst>
                  <a:ext uri="{0D108BD9-81ED-4DB2-BD59-A6C34878D82A}">
                    <a16:rowId xmlns:a16="http://schemas.microsoft.com/office/drawing/2014/main" val="255756725"/>
                  </a:ext>
                </a:extLst>
              </a:tr>
              <a:tr h="2924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</a:rPr>
                        <a:t>A^^2</a:t>
                      </a:r>
                      <a:endParaRPr lang="ru-RU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57" marR="5065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kern="0">
                          <a:effectLst/>
                        </a:rPr>
                        <a:t>Произведение матрицы на саму себя</a:t>
                      </a:r>
                      <a:endParaRPr lang="ru-RU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57" marR="50657" marT="0" marB="0"/>
                </a:tc>
                <a:extLst>
                  <a:ext uri="{0D108BD9-81ED-4DB2-BD59-A6C34878D82A}">
                    <a16:rowId xmlns:a16="http://schemas.microsoft.com/office/drawing/2014/main" val="1402037628"/>
                  </a:ext>
                </a:extLst>
              </a:tr>
              <a:tr h="63044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kern="100">
                          <a:effectLst/>
                        </a:rPr>
                        <a:t>submatrix (х,А,у);</a:t>
                      </a:r>
                      <a:endParaRPr lang="ru-RU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57" marR="5065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kern="0" dirty="0">
                          <a:effectLst/>
                        </a:rPr>
                        <a:t>Удаление строк/столбцов матрицы </a:t>
                      </a:r>
                      <a:r>
                        <a:rPr lang="en-US" sz="1800" kern="0" dirty="0">
                          <a:effectLst/>
                        </a:rPr>
                        <a:t>A</a:t>
                      </a:r>
                      <a:r>
                        <a:rPr lang="ru-RU" sz="1800" kern="0" dirty="0">
                          <a:effectLst/>
                        </a:rPr>
                        <a:t>, где </a:t>
                      </a:r>
                      <a:r>
                        <a:rPr lang="ru-RU" sz="1800" kern="100" dirty="0">
                          <a:effectLst/>
                        </a:rPr>
                        <a:t>x – это номер удаляемой строки , y – это номер удаляемого столбца</a:t>
                      </a:r>
                      <a:endParaRPr lang="ru-RU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57" marR="50657" marT="0" marB="0"/>
                </a:tc>
                <a:extLst>
                  <a:ext uri="{0D108BD9-81ED-4DB2-BD59-A6C34878D82A}">
                    <a16:rowId xmlns:a16="http://schemas.microsoft.com/office/drawing/2014/main" val="15942732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6907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12D37C-7102-20E1-B0B5-65A667E46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latin typeface="+mn-lt"/>
              </a:rPr>
              <a:t>Транспонирование матриц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5A4CE9-1553-7B49-DA40-645DFCEFE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ru-RU" sz="2200" b="0" i="0" dirty="0">
                <a:solidFill>
                  <a:srgbClr val="1A1A1A"/>
                </a:solidFill>
                <a:effectLst/>
              </a:rPr>
              <a:t>Транспонирование матриц можно осуществлять:</a:t>
            </a:r>
          </a:p>
          <a:p>
            <a:r>
              <a:rPr lang="ru-RU" sz="2200" b="0" i="0" dirty="0">
                <a:solidFill>
                  <a:srgbClr val="1A1A1A"/>
                </a:solidFill>
                <a:effectLst/>
              </a:rPr>
              <a:t>либо вводя команду с клавиатуры,</a:t>
            </a:r>
            <a:r>
              <a:rPr lang="en-US" sz="2200" b="0" i="0" dirty="0">
                <a:solidFill>
                  <a:srgbClr val="1A1A1A"/>
                </a:solidFill>
                <a:effectLst/>
              </a:rPr>
              <a:t> transpose</a:t>
            </a:r>
            <a:r>
              <a:rPr lang="ru-RU" sz="2200" b="0" i="0" dirty="0">
                <a:solidFill>
                  <a:srgbClr val="1A1A1A"/>
                </a:solidFill>
                <a:effectLst/>
              </a:rPr>
              <a:t>(матрица).</a:t>
            </a:r>
          </a:p>
          <a:p>
            <a:r>
              <a:rPr lang="ru-RU" sz="2200" b="0" i="0" dirty="0">
                <a:solidFill>
                  <a:srgbClr val="1A1A1A"/>
                </a:solidFill>
                <a:effectLst/>
              </a:rPr>
              <a:t>либо воспользовавшись главным меню(</a:t>
            </a:r>
            <a:r>
              <a:rPr lang="ru-RU" sz="2200" b="0" i="1" dirty="0">
                <a:solidFill>
                  <a:srgbClr val="1A1A1A"/>
                </a:solidFill>
                <a:effectLst/>
              </a:rPr>
              <a:t>Алгебра – Транспонировать матрицу</a:t>
            </a:r>
            <a:r>
              <a:rPr lang="ru-RU" sz="1600" b="0" i="0" dirty="0">
                <a:solidFill>
                  <a:srgbClr val="1A1A1A"/>
                </a:solidFill>
                <a:effectLst/>
                <a:latin typeface="YS Text"/>
              </a:rPr>
              <a:t>).</a:t>
            </a:r>
            <a:endParaRPr lang="ru-RU" sz="2200" b="0" i="0" dirty="0">
              <a:solidFill>
                <a:srgbClr val="1A1A1A"/>
              </a:solidFill>
              <a:effectLst/>
            </a:endParaRP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3F424D3-E2D7-2B42-DBC0-A8B1058BC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902" y="3429000"/>
            <a:ext cx="4421625" cy="225663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06C4A98-D6B7-2F4A-D6E2-E2FFF38D8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229" y="3429000"/>
            <a:ext cx="4165919" cy="2258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383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41807B-2D16-F32C-3CC3-D4C814810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0" i="0" dirty="0">
                <a:solidFill>
                  <a:srgbClr val="1A1A1A"/>
                </a:solidFill>
                <a:effectLst/>
                <a:latin typeface="+mn-lt"/>
              </a:rPr>
              <a:t>Вычисление определителя</a:t>
            </a:r>
            <a:endParaRPr lang="ru-RU" sz="3600" dirty="0"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95FBD0-20FF-7551-B668-AE248EAE4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ru-RU" sz="2400" b="0" i="0" dirty="0">
                <a:solidFill>
                  <a:srgbClr val="1A1A1A"/>
                </a:solidFill>
                <a:effectLst/>
              </a:rPr>
              <a:t>Вычисление определителя может осуществляться:</a:t>
            </a:r>
          </a:p>
          <a:p>
            <a:pPr algn="l"/>
            <a:r>
              <a:rPr lang="ru-RU" sz="2400" dirty="0">
                <a:solidFill>
                  <a:srgbClr val="1A1A1A"/>
                </a:solidFill>
              </a:rPr>
              <a:t>Либо п</a:t>
            </a:r>
            <a:r>
              <a:rPr lang="ru-RU" sz="2400" b="0" i="0" dirty="0">
                <a:solidFill>
                  <a:srgbClr val="1A1A1A"/>
                </a:solidFill>
                <a:effectLst/>
              </a:rPr>
              <a:t>ри помощи команды главного меню: «Алгебра – Определитель».</a:t>
            </a:r>
          </a:p>
          <a:p>
            <a:pPr algn="l"/>
            <a:r>
              <a:rPr lang="ru-RU" sz="2400" b="0" i="0" dirty="0">
                <a:solidFill>
                  <a:srgbClr val="1A1A1A"/>
                </a:solidFill>
                <a:effectLst/>
              </a:rPr>
              <a:t>Либо ввод команды </a:t>
            </a:r>
            <a:r>
              <a:rPr lang="ru-RU" sz="2400" b="0" i="0" dirty="0" err="1">
                <a:solidFill>
                  <a:srgbClr val="1A1A1A"/>
                </a:solidFill>
                <a:effectLst/>
              </a:rPr>
              <a:t>determinant</a:t>
            </a:r>
            <a:r>
              <a:rPr lang="ru-RU" sz="2400" b="0" i="0" dirty="0">
                <a:solidFill>
                  <a:srgbClr val="1A1A1A"/>
                </a:solidFill>
                <a:effectLst/>
              </a:rPr>
              <a:t>.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C77EF7D-C5B6-0715-4AC7-90B0A9695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9038" y="3470892"/>
            <a:ext cx="5523116" cy="2706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991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FA7F04-0CED-AC6C-0BD3-4396B9A84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0" i="0" dirty="0">
                <a:solidFill>
                  <a:srgbClr val="1A1A1A"/>
                </a:solidFill>
                <a:effectLst/>
                <a:latin typeface="+mn-lt"/>
              </a:rPr>
              <a:t>Нахождение обратной матрицы</a:t>
            </a: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2154D6-48D0-6716-0FBC-AE9245731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722" y="1540490"/>
            <a:ext cx="10515600" cy="4351338"/>
          </a:xfrm>
        </p:spPr>
        <p:txBody>
          <a:bodyPr/>
          <a:lstStyle/>
          <a:p>
            <a:pPr marL="0" indent="0" algn="l">
              <a:buNone/>
            </a:pPr>
            <a:r>
              <a:rPr lang="ru-RU" sz="2400" b="0" i="0" dirty="0">
                <a:solidFill>
                  <a:srgbClr val="1A1A1A"/>
                </a:solidFill>
                <a:effectLst/>
              </a:rPr>
              <a:t>Нахождение обратной матрицы может осуществляться:</a:t>
            </a:r>
          </a:p>
          <a:p>
            <a:r>
              <a:rPr lang="ru-RU" sz="2400" b="0" i="0" dirty="0">
                <a:solidFill>
                  <a:srgbClr val="1A1A1A"/>
                </a:solidFill>
                <a:effectLst/>
              </a:rPr>
              <a:t>Либо ввод команды </a:t>
            </a:r>
            <a:r>
              <a:rPr lang="ru-RU" sz="2400" b="0" i="0" dirty="0" err="1">
                <a:solidFill>
                  <a:srgbClr val="1A1A1A"/>
                </a:solidFill>
                <a:effectLst/>
              </a:rPr>
              <a:t>invert</a:t>
            </a:r>
            <a:r>
              <a:rPr lang="ru-RU" sz="2400" b="0" i="0" dirty="0">
                <a:solidFill>
                  <a:srgbClr val="1A1A1A"/>
                </a:solidFill>
                <a:effectLst/>
              </a:rPr>
              <a:t>.</a:t>
            </a:r>
          </a:p>
          <a:p>
            <a:pPr algn="l"/>
            <a:r>
              <a:rPr lang="ru-RU" sz="2400" b="0" i="0" dirty="0">
                <a:solidFill>
                  <a:srgbClr val="1A1A1A"/>
                </a:solidFill>
                <a:effectLst/>
              </a:rPr>
              <a:t>Либо при помощи команды главного меню: «Алгебра – Обратить матрицу».</a:t>
            </a:r>
          </a:p>
          <a:p>
            <a:pPr algn="l"/>
            <a:r>
              <a:rPr lang="ru-RU" sz="2400" b="0" i="0" dirty="0">
                <a:solidFill>
                  <a:srgbClr val="1A1A1A"/>
                </a:solidFill>
                <a:effectLst/>
              </a:rPr>
              <a:t>Либо возведение матрицы в степень (–1).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BBCC113-4E16-C8EE-A59D-7FB1E4E28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871" y="3416710"/>
            <a:ext cx="4816257" cy="118120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E56376C-09A0-C281-0AC0-3E7EAF75F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503" y="4740310"/>
            <a:ext cx="2646269" cy="189496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C0D0494-93D0-580D-C9C9-D2E0A029D1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9789" y="4740310"/>
            <a:ext cx="2377646" cy="179847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B402501-2422-251E-88AD-7891084590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5009" y="4933345"/>
            <a:ext cx="2848030" cy="1508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992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BC2BC8-C645-BF95-1B9F-F86B4E4A6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8464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b="0" i="0" dirty="0">
                <a:solidFill>
                  <a:srgbClr val="1A1A1A"/>
                </a:solidFill>
                <a:effectLst/>
                <a:latin typeface="+mn-lt"/>
              </a:rPr>
              <a:t>Приведение матрицы к ступенчатому виду</a:t>
            </a:r>
            <a:endParaRPr lang="ru-RU" sz="3600" dirty="0"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49FF6E-9D6A-CA08-9999-1813E53A7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501160"/>
            <a:ext cx="4736690" cy="5646892"/>
          </a:xfrm>
        </p:spPr>
        <p:txBody>
          <a:bodyPr/>
          <a:lstStyle/>
          <a:p>
            <a:pPr marL="0" indent="0" algn="l">
              <a:buNone/>
            </a:pPr>
            <a:r>
              <a:rPr lang="ru-RU" sz="2400" b="0" i="0" dirty="0">
                <a:solidFill>
                  <a:srgbClr val="1A1A1A"/>
                </a:solidFill>
                <a:effectLst/>
              </a:rPr>
              <a:t>Матрицу можно привести в ступенчатому виду двумя способами:</a:t>
            </a:r>
          </a:p>
          <a:p>
            <a:pPr algn="l"/>
            <a:r>
              <a:rPr lang="ru-RU" sz="2400" b="0" i="0" dirty="0">
                <a:solidFill>
                  <a:srgbClr val="1A1A1A"/>
                </a:solidFill>
                <a:effectLst/>
              </a:rPr>
              <a:t>1 способ. При помощи функции </a:t>
            </a:r>
            <a:r>
              <a:rPr lang="ru-RU" sz="2400" b="0" i="0" dirty="0" err="1">
                <a:solidFill>
                  <a:srgbClr val="1A1A1A"/>
                </a:solidFill>
                <a:effectLst/>
              </a:rPr>
              <a:t>triangularize</a:t>
            </a:r>
            <a:r>
              <a:rPr lang="ru-RU" sz="2400" b="0" i="0" dirty="0">
                <a:solidFill>
                  <a:srgbClr val="1A1A1A"/>
                </a:solidFill>
                <a:effectLst/>
              </a:rPr>
              <a:t>. Функция не нормирует элементы главной диагонали.</a:t>
            </a:r>
          </a:p>
          <a:p>
            <a:pPr algn="l"/>
            <a:r>
              <a:rPr lang="ru-RU" sz="2400" b="0" i="0" dirty="0">
                <a:solidFill>
                  <a:srgbClr val="1A1A1A"/>
                </a:solidFill>
                <a:effectLst/>
              </a:rPr>
              <a:t>2 способ. При помощи функции </a:t>
            </a:r>
            <a:r>
              <a:rPr lang="ru-RU" sz="2400" b="0" i="0" dirty="0" err="1">
                <a:solidFill>
                  <a:srgbClr val="1A1A1A"/>
                </a:solidFill>
                <a:effectLst/>
              </a:rPr>
              <a:t>echelon</a:t>
            </a:r>
            <a:r>
              <a:rPr lang="ru-RU" sz="2400" b="0" i="0" dirty="0">
                <a:solidFill>
                  <a:srgbClr val="1A1A1A"/>
                </a:solidFill>
                <a:effectLst/>
              </a:rPr>
              <a:t>. Функция дополнительно нормирует элементы главной диагонали, то есть все элементы главной диагонали будут равны « 1 ».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2E83873-141C-2C9C-10A1-6065CFA7A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7678" y="1922496"/>
            <a:ext cx="5582264" cy="3744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772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664067-BA76-521E-7435-77482A01A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0" i="0" dirty="0">
                <a:solidFill>
                  <a:srgbClr val="1A1A1A"/>
                </a:solidFill>
                <a:effectLst/>
                <a:latin typeface="+mn-lt"/>
              </a:rPr>
              <a:t>Нахождение ранга матрицы.</a:t>
            </a:r>
            <a:endParaRPr lang="ru-RU" sz="3600" dirty="0"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BFE722-A74B-713E-07C6-7E7749342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b="0" i="0" dirty="0">
                <a:solidFill>
                  <a:srgbClr val="1A1A1A"/>
                </a:solidFill>
                <a:effectLst/>
              </a:rPr>
              <a:t>Для вычисления ранга матрицы используют команду </a:t>
            </a:r>
            <a:r>
              <a:rPr lang="ru-RU" sz="2400" b="0" i="0" dirty="0" err="1">
                <a:solidFill>
                  <a:srgbClr val="1A1A1A"/>
                </a:solidFill>
                <a:effectLst/>
              </a:rPr>
              <a:t>rank</a:t>
            </a:r>
            <a:r>
              <a:rPr lang="ru-RU" sz="2400" b="0" i="0" dirty="0">
                <a:solidFill>
                  <a:srgbClr val="1A1A1A"/>
                </a:solidFill>
                <a:effectLst/>
              </a:rPr>
              <a:t>.</a:t>
            </a:r>
            <a:endParaRPr lang="ru-RU"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76681A-B217-8AD9-B49C-7F2261D3E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0938" y="4234533"/>
            <a:ext cx="4530699" cy="141870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223F63C-4B3B-BB85-4E78-3FF370383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8322" y="2643644"/>
            <a:ext cx="7795355" cy="1590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741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0031-66A7-107B-A03E-4003AF766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0" i="0" dirty="0">
                <a:solidFill>
                  <a:srgbClr val="1A1A1A"/>
                </a:solidFill>
                <a:effectLst/>
                <a:latin typeface="+mn-lt"/>
              </a:rPr>
              <a:t>Получение минора матрицы</a:t>
            </a:r>
            <a:endParaRPr lang="ru-RU" sz="3600" dirty="0"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F6A0CB-D5B9-45F1-E6D3-755BC3EF1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934" y="1680395"/>
            <a:ext cx="4756356" cy="4563089"/>
          </a:xfrm>
        </p:spPr>
        <p:txBody>
          <a:bodyPr/>
          <a:lstStyle/>
          <a:p>
            <a:pPr algn="l"/>
            <a:r>
              <a:rPr lang="ru-RU" sz="2400" b="0" i="0" dirty="0">
                <a:solidFill>
                  <a:srgbClr val="1A1A1A"/>
                </a:solidFill>
                <a:effectLst/>
              </a:rPr>
              <a:t>Минор матрицы (минор второго типа) вычисляется при помощи функции </a:t>
            </a:r>
            <a:r>
              <a:rPr lang="ru-RU" sz="2400" b="0" i="0" dirty="0" err="1">
                <a:solidFill>
                  <a:srgbClr val="1A1A1A"/>
                </a:solidFill>
                <a:effectLst/>
              </a:rPr>
              <a:t>minor</a:t>
            </a:r>
            <a:r>
              <a:rPr lang="ru-RU" sz="2400" b="0" i="0" dirty="0">
                <a:solidFill>
                  <a:srgbClr val="1A1A1A"/>
                </a:solidFill>
                <a:effectLst/>
              </a:rPr>
              <a:t>(</a:t>
            </a:r>
            <a:r>
              <a:rPr lang="ru-RU" sz="2400" b="0" i="0" dirty="0" err="1">
                <a:solidFill>
                  <a:srgbClr val="1A1A1A"/>
                </a:solidFill>
                <a:effectLst/>
              </a:rPr>
              <a:t>M,i,j</a:t>
            </a:r>
            <a:r>
              <a:rPr lang="ru-RU" sz="2400" b="0" i="0" dirty="0">
                <a:solidFill>
                  <a:srgbClr val="1A1A1A"/>
                </a:solidFill>
                <a:effectLst/>
              </a:rPr>
              <a:t>), где М –матрица, </a:t>
            </a:r>
            <a:r>
              <a:rPr lang="ru-RU" sz="2400" b="0" i="0" dirty="0" err="1">
                <a:solidFill>
                  <a:srgbClr val="1A1A1A"/>
                </a:solidFill>
                <a:effectLst/>
              </a:rPr>
              <a:t>i,j</a:t>
            </a:r>
            <a:r>
              <a:rPr lang="ru-RU" sz="2400" b="0" i="0" dirty="0">
                <a:solidFill>
                  <a:srgbClr val="1A1A1A"/>
                </a:solidFill>
                <a:effectLst/>
              </a:rPr>
              <a:t> – индексы элемента, для которого вычисляется минор.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183F557-EB1D-4CEA-EA6F-E34E82EFC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064" y="1417515"/>
            <a:ext cx="7128936" cy="436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67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8F8DE8-A0D0-50E8-564F-0079F28CB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47226F-D3F6-980C-14ED-4B8D05112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Таким образов, существует множество функций для работы с матрицами и для решения различных задач, связанных с ними.</a:t>
            </a:r>
          </a:p>
        </p:txBody>
      </p:sp>
    </p:spTree>
    <p:extLst>
      <p:ext uri="{BB962C8B-B14F-4D97-AF65-F5344CB8AC3E}">
        <p14:creationId xmlns:p14="http://schemas.microsoft.com/office/powerpoint/2010/main" val="28640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A4ACB8-BF49-AE05-B475-8564C185E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Ссылки источников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6E344E-5DAE-E10B-D084-5B8525AB6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https://yadi.sk/i/zz6t7hvHPLOayQ</a:t>
            </a:r>
            <a:r>
              <a:rPr lang="ru-RU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9490545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531</Words>
  <Application>Microsoft Office PowerPoint</Application>
  <PresentationFormat>Широкоэкранный</PresentationFormat>
  <Paragraphs>75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YS Text</vt:lpstr>
      <vt:lpstr>Тема Office</vt:lpstr>
      <vt:lpstr>Работа с матрицами в прикладной компьютерной программе Maxima</vt:lpstr>
      <vt:lpstr>Ввод матрицы</vt:lpstr>
      <vt:lpstr>Создание матрицы, элементами которой являются матрицы</vt:lpstr>
      <vt:lpstr>Создание матрицы, элементами которой являются матрицы</vt:lpstr>
      <vt:lpstr>Действия над матрицами</vt:lpstr>
      <vt:lpstr>Транспонирование матриц</vt:lpstr>
      <vt:lpstr>Вычисление определителя</vt:lpstr>
      <vt:lpstr>Нахождение обратной матрицы</vt:lpstr>
      <vt:lpstr>Приведение матрицы к ступенчатому виду</vt:lpstr>
      <vt:lpstr>Нахождение ранга матрицы.</vt:lpstr>
      <vt:lpstr>Получение минора матрицы</vt:lpstr>
      <vt:lpstr>Заключение</vt:lpstr>
      <vt:lpstr>Ссылки источников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Работа с матрицами в прикладной компьютерной программе Maxima</dc:title>
  <dc:creator>Виктор Коршунов</dc:creator>
  <cp:lastModifiedBy>Виктор Коршунов</cp:lastModifiedBy>
  <cp:revision>1</cp:revision>
  <dcterms:created xsi:type="dcterms:W3CDTF">2022-12-24T23:20:11Z</dcterms:created>
  <dcterms:modified xsi:type="dcterms:W3CDTF">2022-12-25T00:03:42Z</dcterms:modified>
</cp:coreProperties>
</file>